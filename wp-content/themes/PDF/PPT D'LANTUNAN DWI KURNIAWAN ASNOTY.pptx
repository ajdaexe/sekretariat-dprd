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59" r:id="rId7"/>
    <p:sldId id="268" r:id="rId8"/>
    <p:sldId id="272" r:id="rId9"/>
    <p:sldId id="273" r:id="rId10"/>
    <p:sldId id="274" r:id="rId11"/>
    <p:sldId id="263" r:id="rId12"/>
    <p:sldId id="267" r:id="rId13"/>
  </p:sldIdLst>
  <p:sldSz cx="18288000" cy="10287000"/>
  <p:notesSz cx="6858000" cy="9144000"/>
  <p:embeddedFontLst>
    <p:embeddedFont>
      <p:font typeface="Arial Black" panose="020B0A04020102020204" pitchFamily="34" charset="0"/>
      <p:bold r:id="rId14"/>
    </p:embeddedFont>
    <p:embeddedFont>
      <p:font typeface="Cardo" panose="020B0604020202020204" charset="-79"/>
      <p:regular r:id="rId15"/>
    </p:embeddedFont>
    <p:embeddedFont>
      <p:font typeface="Cardo Bold" panose="020B0604020202020204" charset="-79"/>
      <p:regular r:id="rId16"/>
    </p:embeddedFont>
    <p:embeddedFont>
      <p:font typeface="Playfair Display" panose="00000500000000000000" pitchFamily="2" charset="0"/>
      <p:regular r:id="rId17"/>
      <p:bold r:id="rId18"/>
      <p:italic r:id="rId19"/>
      <p:boldItalic r:id="rId20"/>
    </p:embeddedFont>
    <p:embeddedFont>
      <p:font typeface="Playfair Display Bold" panose="00000800000000000000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39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951011"/>
            <a:ext cx="16230600" cy="0"/>
          </a:xfrm>
          <a:prstGeom prst="line">
            <a:avLst/>
          </a:prstGeom>
          <a:ln w="19050" cap="flat">
            <a:solidFill>
              <a:srgbClr val="CBCBC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5564950" y="2638283"/>
            <a:ext cx="731497" cy="73149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BCBCB"/>
              </a:solidFill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795945" y="5018069"/>
            <a:ext cx="1591890" cy="159189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CBCBCB"/>
              </a:solidFill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42728" y="8218178"/>
            <a:ext cx="662284" cy="662284"/>
          </a:xfrm>
          <a:custGeom>
            <a:avLst/>
            <a:gdLst/>
            <a:ahLst/>
            <a:cxnLst/>
            <a:rect l="l" t="t" r="r" b="b"/>
            <a:pathLst>
              <a:path w="662284" h="662284">
                <a:moveTo>
                  <a:pt x="0" y="0"/>
                </a:moveTo>
                <a:lnTo>
                  <a:pt x="662284" y="0"/>
                </a:lnTo>
                <a:lnTo>
                  <a:pt x="662284" y="662283"/>
                </a:lnTo>
                <a:lnTo>
                  <a:pt x="0" y="662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05012" y="2510090"/>
            <a:ext cx="6598738" cy="1786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2"/>
              </a:lnSpc>
            </a:pPr>
            <a:r>
              <a:rPr lang="en-US" sz="6384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“D’ LANTUNAN”</a:t>
            </a:r>
          </a:p>
          <a:p>
            <a:pPr algn="ctr">
              <a:lnSpc>
                <a:spcPts val="7022"/>
              </a:lnSpc>
            </a:pPr>
            <a:endParaRPr lang="en-US" sz="6384" b="1">
              <a:solidFill>
                <a:srgbClr val="FFFFFF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95945" y="3609585"/>
            <a:ext cx="8016872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sz="3989" dirty="0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DIGITALISASI LAYANAN TATA </a:t>
            </a:r>
            <a:r>
              <a:rPr lang="en-US" sz="3989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USAHA DI SEKRETARIAT </a:t>
            </a:r>
            <a:r>
              <a:rPr lang="en-US" sz="3989" dirty="0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DPRD KABUPATEN PURBALINGGA</a:t>
            </a:r>
          </a:p>
          <a:p>
            <a:pPr algn="ctr">
              <a:lnSpc>
                <a:spcPts val="4787"/>
              </a:lnSpc>
            </a:pPr>
            <a:endParaRPr lang="en-US" sz="3989" dirty="0">
              <a:solidFill>
                <a:srgbClr val="FFFFFF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9517667" y="2169034"/>
            <a:ext cx="7513276" cy="5012764"/>
          </a:xfrm>
          <a:custGeom>
            <a:avLst/>
            <a:gdLst/>
            <a:ahLst/>
            <a:cxnLst/>
            <a:rect l="l" t="t" r="r" b="b"/>
            <a:pathLst>
              <a:path w="7513276" h="5012764">
                <a:moveTo>
                  <a:pt x="0" y="0"/>
                </a:moveTo>
                <a:lnTo>
                  <a:pt x="7513276" y="0"/>
                </a:lnTo>
                <a:lnTo>
                  <a:pt x="7513276" y="5012764"/>
                </a:lnTo>
                <a:lnTo>
                  <a:pt x="0" y="5012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37101" y="8256278"/>
            <a:ext cx="11177521" cy="204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366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Dipresentasikan oleh : </a:t>
            </a:r>
          </a:p>
          <a:p>
            <a:pPr algn="l">
              <a:lnSpc>
                <a:spcPts val="4026"/>
              </a:lnSpc>
            </a:pPr>
            <a:r>
              <a:rPr lang="en-US" sz="366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DWI KURNIAWAN, S.Sos.</a:t>
            </a:r>
          </a:p>
          <a:p>
            <a:pPr algn="l">
              <a:lnSpc>
                <a:spcPts val="4026"/>
              </a:lnSpc>
            </a:pPr>
            <a:r>
              <a:rPr lang="en-US" sz="366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KASUBBAG TU DAN KEPEGAWAIAN</a:t>
            </a:r>
          </a:p>
          <a:p>
            <a:pPr algn="l">
              <a:lnSpc>
                <a:spcPts val="4026"/>
              </a:lnSpc>
            </a:pPr>
            <a:endParaRPr lang="en-US" sz="3660" b="1">
              <a:solidFill>
                <a:srgbClr val="FFFFFF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737727" y="5605465"/>
            <a:ext cx="1704097" cy="1999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33"/>
              </a:lnSpc>
            </a:pPr>
            <a:r>
              <a:rPr lang="en-US" sz="13194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+</a:t>
            </a:r>
          </a:p>
        </p:txBody>
      </p:sp>
      <p:pic>
        <p:nvPicPr>
          <p:cNvPr id="15" name="Picture 14" descr="Logo Pemkab bagus">
            <a:extLst>
              <a:ext uri="{FF2B5EF4-FFF2-40B4-BE49-F238E27FC236}">
                <a16:creationId xmlns:a16="http://schemas.microsoft.com/office/drawing/2014/main" id="{A5B49DE9-1A3A-F416-5FD5-DED1248A2A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614636"/>
            <a:ext cx="1937414" cy="1855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B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683651"/>
            <a:ext cx="16230600" cy="0"/>
          </a:xfrm>
          <a:prstGeom prst="line">
            <a:avLst/>
          </a:prstGeom>
          <a:ln w="19050" cap="flat">
            <a:solidFill>
              <a:srgbClr val="092C5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4343400" y="425061"/>
            <a:ext cx="9961523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PROFIL ASN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10294" y="5140487"/>
            <a:ext cx="11613759" cy="264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61"/>
              </a:lnSpc>
            </a:pPr>
            <a:r>
              <a:rPr lang="en-US" sz="3500" b="1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NIP                     : 198008312010011014</a:t>
            </a:r>
          </a:p>
          <a:p>
            <a:pPr algn="just">
              <a:lnSpc>
                <a:spcPts val="2861"/>
              </a:lnSpc>
            </a:pPr>
            <a:endParaRPr lang="en-US" sz="3500" b="1" dirty="0">
              <a:solidFill>
                <a:srgbClr val="092C5B"/>
              </a:solidFill>
              <a:latin typeface="Cardo"/>
              <a:ea typeface="Cardo"/>
              <a:cs typeface="Cardo"/>
              <a:sym typeface="Cardo"/>
            </a:endParaRPr>
          </a:p>
          <a:p>
            <a:pPr algn="just">
              <a:lnSpc>
                <a:spcPts val="2861"/>
              </a:lnSpc>
            </a:pPr>
            <a:r>
              <a:rPr lang="en-US" sz="3500" b="1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JABATAN          : KASUBBAG TU DAN KEPEGAWAIAN</a:t>
            </a:r>
          </a:p>
          <a:p>
            <a:pPr algn="just">
              <a:lnSpc>
                <a:spcPts val="2861"/>
              </a:lnSpc>
            </a:pPr>
            <a:endParaRPr lang="en-US" sz="3500" b="1" dirty="0">
              <a:solidFill>
                <a:srgbClr val="092C5B"/>
              </a:solidFill>
              <a:latin typeface="Cardo"/>
              <a:ea typeface="Cardo"/>
              <a:cs typeface="Cardo"/>
              <a:sym typeface="Cardo"/>
            </a:endParaRPr>
          </a:p>
          <a:p>
            <a:pPr algn="just">
              <a:lnSpc>
                <a:spcPts val="2861"/>
              </a:lnSpc>
            </a:pPr>
            <a:r>
              <a:rPr lang="en-US" sz="3500" b="1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UNIT KERJA     : SEKRETARIAT DPRD KABUPATEN </a:t>
            </a:r>
          </a:p>
          <a:p>
            <a:pPr algn="just">
              <a:lnSpc>
                <a:spcPts val="2861"/>
              </a:lnSpc>
            </a:pPr>
            <a:r>
              <a:rPr lang="en-US" sz="3500" b="1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                             PURBALINGGA</a:t>
            </a:r>
          </a:p>
          <a:p>
            <a:pPr algn="l">
              <a:lnSpc>
                <a:spcPts val="2861"/>
              </a:lnSpc>
            </a:pPr>
            <a:endParaRPr lang="en-US" sz="3500" dirty="0">
              <a:solidFill>
                <a:srgbClr val="092C5B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107583" y="3914374"/>
            <a:ext cx="6785401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69"/>
              </a:lnSpc>
            </a:pPr>
            <a:r>
              <a:rPr lang="en-US" sz="4500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DWI KURNIAWAN, </a:t>
            </a:r>
            <a:r>
              <a:rPr lang="en-US" sz="4500" b="1" dirty="0" err="1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S.Sos</a:t>
            </a:r>
            <a:r>
              <a:rPr lang="en-US" sz="4500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795945" y="2872066"/>
            <a:ext cx="1591890" cy="15918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92C5B"/>
              </a:solidFill>
              <a:prstDash val="dash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411700" y="1933720"/>
            <a:ext cx="624707" cy="54277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92C5B"/>
              </a:solidFill>
              <a:prstDash val="dash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143111" y="7874343"/>
            <a:ext cx="1704097" cy="1999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33"/>
              </a:lnSpc>
            </a:pPr>
            <a:r>
              <a:rPr lang="en-US" sz="13194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+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97D099-2E66-9885-2BE6-F7B3CBFF18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49" y="2675820"/>
            <a:ext cx="4481741" cy="6726815"/>
          </a:xfrm>
          <a:prstGeom prst="roundRect">
            <a:avLst>
              <a:gd name="adj" fmla="val 16667"/>
            </a:avLst>
          </a:prstGeom>
          <a:ln>
            <a:solidFill>
              <a:srgbClr val="FF0000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3" name="Group 11">
            <a:extLst>
              <a:ext uri="{FF2B5EF4-FFF2-40B4-BE49-F238E27FC236}">
                <a16:creationId xmlns:a16="http://schemas.microsoft.com/office/drawing/2014/main" id="{70662BF7-F71E-A869-F6F5-1D9FEDD7FEA2}"/>
              </a:ext>
            </a:extLst>
          </p:cNvPr>
          <p:cNvGrpSpPr/>
          <p:nvPr/>
        </p:nvGrpSpPr>
        <p:grpSpPr>
          <a:xfrm>
            <a:off x="15422578" y="3559903"/>
            <a:ext cx="1769172" cy="1876533"/>
            <a:chOff x="0" y="0"/>
            <a:chExt cx="812800" cy="812800"/>
          </a:xfrm>
        </p:grpSpPr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45A976BE-EE0A-58AF-31F0-7AD38C899A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92C5B"/>
              </a:solidFill>
              <a:prstDash val="dash"/>
              <a:miter/>
            </a:ln>
          </p:spPr>
        </p: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1EEFBE84-5538-95C5-D15D-B0F06B58F238}"/>
                </a:ext>
              </a:extLst>
            </p:cNvPr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7" name="Group 11">
            <a:extLst>
              <a:ext uri="{FF2B5EF4-FFF2-40B4-BE49-F238E27FC236}">
                <a16:creationId xmlns:a16="http://schemas.microsoft.com/office/drawing/2014/main" id="{E2BCF7FE-829C-56B1-85FD-D9CE90288087}"/>
              </a:ext>
            </a:extLst>
          </p:cNvPr>
          <p:cNvGrpSpPr/>
          <p:nvPr/>
        </p:nvGrpSpPr>
        <p:grpSpPr>
          <a:xfrm>
            <a:off x="16831483" y="2645205"/>
            <a:ext cx="720533" cy="720533"/>
            <a:chOff x="0" y="0"/>
            <a:chExt cx="812800" cy="812800"/>
          </a:xfrm>
        </p:grpSpPr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1355A393-A056-6677-65FC-B00EAFD10BC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92C5B"/>
              </a:solidFill>
              <a:prstDash val="dash"/>
              <a:miter/>
            </a:ln>
          </p:spPr>
        </p:sp>
        <p:sp>
          <p:nvSpPr>
            <p:cNvPr id="19" name="TextBox 13">
              <a:extLst>
                <a:ext uri="{FF2B5EF4-FFF2-40B4-BE49-F238E27FC236}">
                  <a16:creationId xmlns:a16="http://schemas.microsoft.com/office/drawing/2014/main" id="{EDF9E5D7-EAD6-52BD-3BDF-605960296D3D}"/>
                </a:ext>
              </a:extLst>
            </p:cNvPr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B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19200" y="2552700"/>
            <a:ext cx="16230600" cy="0"/>
          </a:xfrm>
          <a:prstGeom prst="line">
            <a:avLst/>
          </a:prstGeom>
          <a:ln w="19050" cap="flat">
            <a:solidFill>
              <a:srgbClr val="092C5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9753600" y="3086106"/>
            <a:ext cx="8110509" cy="5203356"/>
            <a:chOff x="0" y="0"/>
            <a:chExt cx="1111530" cy="7404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1530" cy="740499"/>
            </a:xfrm>
            <a:custGeom>
              <a:avLst/>
              <a:gdLst/>
              <a:ahLst/>
              <a:cxnLst/>
              <a:rect l="l" t="t" r="r" b="b"/>
              <a:pathLst>
                <a:path w="1111530" h="740499">
                  <a:moveTo>
                    <a:pt x="0" y="0"/>
                  </a:moveTo>
                  <a:lnTo>
                    <a:pt x="1111530" y="0"/>
                  </a:lnTo>
                  <a:lnTo>
                    <a:pt x="1111530" y="740499"/>
                  </a:lnTo>
                  <a:lnTo>
                    <a:pt x="0" y="740499"/>
                  </a:lnTo>
                  <a:close/>
                </a:path>
              </a:pathLst>
            </a:custGeom>
            <a:blipFill>
              <a:blip r:embed="rId2"/>
              <a:stretch>
                <a:fillRect t="-74" b="-74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473610" y="177951"/>
            <a:ext cx="995262" cy="995262"/>
          </a:xfrm>
          <a:custGeom>
            <a:avLst/>
            <a:gdLst/>
            <a:ahLst/>
            <a:cxnLst/>
            <a:rect l="l" t="t" r="r" b="b"/>
            <a:pathLst>
              <a:path w="995262" h="995262">
                <a:moveTo>
                  <a:pt x="0" y="0"/>
                </a:moveTo>
                <a:lnTo>
                  <a:pt x="995262" y="0"/>
                </a:lnTo>
                <a:lnTo>
                  <a:pt x="995262" y="995262"/>
                </a:lnTo>
                <a:lnTo>
                  <a:pt x="0" y="995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7781733"/>
            <a:ext cx="4760598" cy="1810894"/>
          </a:xfrm>
          <a:custGeom>
            <a:avLst/>
            <a:gdLst/>
            <a:ahLst/>
            <a:cxnLst/>
            <a:rect l="l" t="t" r="r" b="b"/>
            <a:pathLst>
              <a:path w="4760598" h="1810894">
                <a:moveTo>
                  <a:pt x="0" y="0"/>
                </a:moveTo>
                <a:lnTo>
                  <a:pt x="4760598" y="0"/>
                </a:lnTo>
                <a:lnTo>
                  <a:pt x="4760598" y="1810895"/>
                </a:lnTo>
                <a:lnTo>
                  <a:pt x="0" y="18108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241425"/>
            <a:ext cx="1085850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PROFIL INSTANSI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3400" y="3183545"/>
            <a:ext cx="8808017" cy="37125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40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TUGAS POKOK SEKRETARIAT DPRD KAB. PURBALINGGA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yaitu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menyelenggarakan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administrasi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kesekretariatan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dan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keuangan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,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serta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mendukung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pelaksanaan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tugas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dan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fungsi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DPRD,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meliputi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fungsi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legislasi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,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anggaran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, dan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pengawasan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sesuai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dengan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peraturan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perundang-undangan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yang </a:t>
            </a:r>
            <a:r>
              <a:rPr lang="en-US" sz="37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berlaku</a:t>
            </a:r>
            <a:r>
              <a:rPr lang="en-US" sz="37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783" y="7334250"/>
            <a:ext cx="6785401" cy="513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69"/>
              </a:lnSpc>
            </a:pPr>
            <a:r>
              <a:rPr lang="en-US" sz="3699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Nilai-Nilai </a:t>
            </a:r>
            <a:r>
              <a:rPr lang="en-US" sz="3699" b="1" dirty="0" err="1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Budaya</a:t>
            </a:r>
            <a:r>
              <a:rPr lang="en-US" sz="3699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Organisasi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611678"/>
            <a:ext cx="14122301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092C5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Merupakan landasan dalam mewujudkan kinerja profesional, berintegritas, dan berorientasi pelayanan.</a:t>
            </a:r>
          </a:p>
        </p:txBody>
      </p:sp>
      <p:pic>
        <p:nvPicPr>
          <p:cNvPr id="1026" name="Picture 4" descr="Hasil gambar untuk logo pemkab purbalingga">
            <a:extLst>
              <a:ext uri="{FF2B5EF4-FFF2-40B4-BE49-F238E27FC236}">
                <a16:creationId xmlns:a16="http://schemas.microsoft.com/office/drawing/2014/main" id="{A1F774DD-A609-DEFB-441D-0155A3140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26" y="212057"/>
            <a:ext cx="1100643" cy="9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624A-AD27-4176-299B-ABA538A4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B577F9-C888-5E92-32B4-16651C878BCA}"/>
              </a:ext>
            </a:extLst>
          </p:cNvPr>
          <p:cNvSpPr txBox="1"/>
          <p:nvPr/>
        </p:nvSpPr>
        <p:spPr>
          <a:xfrm>
            <a:off x="7848600" y="228977"/>
            <a:ext cx="109728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885" marR="2832100" indent="254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id-ID" sz="4000" b="1" kern="0" spc="-1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PENDAHULUAN</a:t>
            </a:r>
            <a:endParaRPr lang="en-ID" sz="4000" b="1" kern="0" dirty="0">
              <a:effectLst/>
              <a:latin typeface="Arial Black" panose="020B0A04020102020204" pitchFamily="34" charset="0"/>
              <a:ea typeface="Arial" panose="020B0604020202020204" pitchFamily="34" charset="0"/>
            </a:endParaRPr>
          </a:p>
          <a:p>
            <a:pPr>
              <a:spcBef>
                <a:spcPts val="1185"/>
              </a:spcBef>
              <a:buNone/>
            </a:pPr>
            <a:r>
              <a:rPr lang="id-ID" sz="1800" b="1" dirty="0">
                <a:effectLst/>
                <a:latin typeface="Arial Black" panose="020B0A04020102020204" pitchFamily="34" charset="0"/>
                <a:ea typeface="Arial MT"/>
                <a:cs typeface="Arial MT"/>
              </a:rPr>
              <a:t> </a:t>
            </a:r>
            <a:endParaRPr lang="en-ID" sz="1800" dirty="0">
              <a:effectLst/>
              <a:latin typeface="Arial Black" panose="020B0A04020102020204" pitchFamily="34" charset="0"/>
              <a:ea typeface="Arial M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A93FCA-7619-7182-14BE-592541D0CC31}"/>
              </a:ext>
            </a:extLst>
          </p:cNvPr>
          <p:cNvSpPr txBox="1"/>
          <p:nvPr/>
        </p:nvSpPr>
        <p:spPr>
          <a:xfrm>
            <a:off x="394034" y="689810"/>
            <a:ext cx="17499932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D" dirty="0"/>
          </a:p>
          <a:p>
            <a:br>
              <a:rPr lang="en-ID" dirty="0"/>
            </a:br>
            <a:endParaRPr lang="en-ID" dirty="0"/>
          </a:p>
          <a:p>
            <a:endParaRPr lang="en-ID" sz="25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4FCEE6-92CC-F709-AD14-30241903589A}"/>
              </a:ext>
            </a:extLst>
          </p:cNvPr>
          <p:cNvSpPr/>
          <p:nvPr/>
        </p:nvSpPr>
        <p:spPr>
          <a:xfrm>
            <a:off x="388247" y="757740"/>
            <a:ext cx="3771899" cy="872916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3000" b="1" dirty="0"/>
              <a:t>A. Latar </a:t>
            </a:r>
            <a:r>
              <a:rPr lang="en-ID" sz="3000" b="1" dirty="0" err="1"/>
              <a:t>Belakang</a:t>
            </a:r>
            <a:endParaRPr lang="en-ID" sz="3000" b="1" dirty="0"/>
          </a:p>
          <a:p>
            <a:r>
              <a:rPr lang="en-ID" sz="3000" dirty="0" err="1"/>
              <a:t>Transformasi</a:t>
            </a:r>
            <a:r>
              <a:rPr lang="en-ID" sz="3000" dirty="0"/>
              <a:t> digital </a:t>
            </a:r>
            <a:r>
              <a:rPr lang="en-ID" sz="3000" dirty="0" err="1"/>
              <a:t>birokrasi</a:t>
            </a:r>
            <a:r>
              <a:rPr lang="en-ID" sz="3000" dirty="0"/>
              <a:t> = </a:t>
            </a:r>
            <a:r>
              <a:rPr lang="en-ID" sz="3000" dirty="0" err="1"/>
              <a:t>kebutuhan</a:t>
            </a:r>
            <a:r>
              <a:rPr lang="en-ID" sz="3000" dirty="0"/>
              <a:t> </a:t>
            </a:r>
            <a:r>
              <a:rPr lang="en-ID" sz="3000" dirty="0" err="1"/>
              <a:t>untuk</a:t>
            </a:r>
            <a:r>
              <a:rPr lang="en-ID" sz="3000" dirty="0"/>
              <a:t> </a:t>
            </a:r>
            <a:r>
              <a:rPr lang="en-ID" sz="3000" dirty="0" err="1"/>
              <a:t>mewujudkan</a:t>
            </a:r>
            <a:r>
              <a:rPr lang="en-ID" sz="3000" dirty="0"/>
              <a:t> </a:t>
            </a:r>
            <a:r>
              <a:rPr lang="en-ID" sz="3000" dirty="0" err="1"/>
              <a:t>pemerintahan</a:t>
            </a:r>
            <a:r>
              <a:rPr lang="en-ID" sz="3000" dirty="0"/>
              <a:t> </a:t>
            </a:r>
            <a:r>
              <a:rPr lang="en-ID" sz="3000" b="1" dirty="0" err="1"/>
              <a:t>efektif</a:t>
            </a:r>
            <a:r>
              <a:rPr lang="en-ID" sz="3000" b="1" dirty="0"/>
              <a:t>, </a:t>
            </a:r>
            <a:r>
              <a:rPr lang="en-ID" sz="3000" b="1" dirty="0" err="1"/>
              <a:t>transparan</a:t>
            </a:r>
            <a:r>
              <a:rPr lang="en-ID" sz="3000" b="1" dirty="0"/>
              <a:t>, dan </a:t>
            </a:r>
            <a:r>
              <a:rPr lang="en-ID" sz="3000" b="1" dirty="0" err="1"/>
              <a:t>akuntabel</a:t>
            </a:r>
            <a:r>
              <a:rPr lang="en-ID" sz="3000" dirty="0"/>
              <a:t>. Didukung </a:t>
            </a:r>
            <a:r>
              <a:rPr lang="en-ID" sz="3000" dirty="0" err="1"/>
              <a:t>regulasi</a:t>
            </a:r>
            <a:r>
              <a:rPr lang="en-ID" sz="3000" dirty="0"/>
              <a:t>: </a:t>
            </a:r>
          </a:p>
          <a:p>
            <a:pPr lvl="1"/>
            <a:r>
              <a:rPr lang="en-ID" sz="3000" dirty="0"/>
              <a:t>- UU ITE (UU No. 11/2008 jo. UU No. 1/2024) </a:t>
            </a:r>
          </a:p>
          <a:p>
            <a:pPr lvl="1"/>
            <a:r>
              <a:rPr lang="en-ID" sz="3000" dirty="0"/>
              <a:t>- </a:t>
            </a:r>
            <a:r>
              <a:rPr lang="en-ID" sz="3000" dirty="0" err="1"/>
              <a:t>Perpres</a:t>
            </a:r>
            <a:r>
              <a:rPr lang="en-ID" sz="3000" dirty="0"/>
              <a:t> No. 82/2023 (</a:t>
            </a:r>
            <a:r>
              <a:rPr lang="en-ID" sz="3000" dirty="0" err="1"/>
              <a:t>Transformasi</a:t>
            </a:r>
            <a:r>
              <a:rPr lang="en-ID" sz="3000" dirty="0"/>
              <a:t> Digital) </a:t>
            </a:r>
          </a:p>
          <a:p>
            <a:pPr lvl="1"/>
            <a:r>
              <a:rPr lang="en-ID" sz="3000" dirty="0"/>
              <a:t>- PP No. 71/2019 (</a:t>
            </a:r>
            <a:r>
              <a:rPr lang="en-ID" sz="3000" dirty="0" err="1"/>
              <a:t>Sistem</a:t>
            </a:r>
            <a:r>
              <a:rPr lang="en-ID" sz="3000" dirty="0"/>
              <a:t> Elektronik)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FBA778-6CA8-E003-E64B-AA8DF8A446DE}"/>
              </a:ext>
            </a:extLst>
          </p:cNvPr>
          <p:cNvSpPr/>
          <p:nvPr/>
        </p:nvSpPr>
        <p:spPr>
          <a:xfrm>
            <a:off x="4903720" y="1104900"/>
            <a:ext cx="4107555" cy="87291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 sz="3000" b="1" dirty="0"/>
          </a:p>
          <a:p>
            <a:r>
              <a:rPr lang="en-ID" sz="2900" dirty="0"/>
              <a:t>Sejalan </a:t>
            </a:r>
            <a:r>
              <a:rPr lang="en-ID" sz="2900" dirty="0" err="1"/>
              <a:t>dengan</a:t>
            </a:r>
            <a:r>
              <a:rPr lang="en-ID" sz="2900" dirty="0"/>
              <a:t> </a:t>
            </a:r>
            <a:r>
              <a:rPr lang="en-ID" sz="2900" b="1" dirty="0"/>
              <a:t>RPJMD </a:t>
            </a:r>
            <a:r>
              <a:rPr lang="en-ID" sz="2900" b="1" dirty="0" err="1"/>
              <a:t>Purbalingga</a:t>
            </a:r>
            <a:r>
              <a:rPr lang="en-ID" sz="2900" b="1" dirty="0"/>
              <a:t> 2025–2029 (Misi Reformasi </a:t>
            </a:r>
            <a:r>
              <a:rPr lang="en-ID" sz="2900" b="1" dirty="0" err="1"/>
              <a:t>Pelayanan</a:t>
            </a:r>
            <a:r>
              <a:rPr lang="en-ID" sz="2900" b="1" dirty="0"/>
              <a:t> Publik)</a:t>
            </a:r>
            <a:r>
              <a:rPr lang="en-ID" sz="2900" dirty="0"/>
              <a:t>. Tata </a:t>
            </a:r>
            <a:r>
              <a:rPr lang="en-ID" sz="2900" dirty="0" err="1"/>
              <a:t>usaha</a:t>
            </a:r>
            <a:r>
              <a:rPr lang="en-ID" sz="2900" dirty="0"/>
              <a:t> &amp; </a:t>
            </a:r>
            <a:r>
              <a:rPr lang="en-ID" sz="2900" dirty="0" err="1"/>
              <a:t>kepegawaian</a:t>
            </a:r>
            <a:r>
              <a:rPr lang="en-ID" sz="2900" dirty="0"/>
              <a:t> = </a:t>
            </a:r>
            <a:r>
              <a:rPr lang="en-ID" sz="2900" b="1" dirty="0" err="1"/>
              <a:t>fungsi</a:t>
            </a:r>
            <a:r>
              <a:rPr lang="en-ID" sz="2900" b="1" dirty="0"/>
              <a:t> vital</a:t>
            </a:r>
            <a:r>
              <a:rPr lang="en-ID" sz="2900" dirty="0"/>
              <a:t> </a:t>
            </a:r>
            <a:r>
              <a:rPr lang="en-ID" sz="2900" dirty="0" err="1"/>
              <a:t>dalam</a:t>
            </a:r>
            <a:r>
              <a:rPr lang="en-ID" sz="2900" dirty="0"/>
              <a:t> </a:t>
            </a:r>
            <a:r>
              <a:rPr lang="en-ID" sz="2900" dirty="0" err="1"/>
              <a:t>pengambilan</a:t>
            </a:r>
            <a:r>
              <a:rPr lang="en-ID" sz="2900" dirty="0"/>
              <a:t> </a:t>
            </a:r>
            <a:r>
              <a:rPr lang="en-ID" sz="2900" dirty="0" err="1"/>
              <a:t>keputusan</a:t>
            </a:r>
            <a:r>
              <a:rPr lang="en-ID" sz="2900" dirty="0"/>
              <a:t>. </a:t>
            </a:r>
            <a:r>
              <a:rPr lang="en-ID" sz="2900" dirty="0" err="1"/>
              <a:t>Digitalisasi</a:t>
            </a:r>
            <a:r>
              <a:rPr lang="en-ID" sz="2900" dirty="0"/>
              <a:t> </a:t>
            </a:r>
            <a:r>
              <a:rPr lang="en-ID" sz="2900" dirty="0" err="1"/>
              <a:t>memberi</a:t>
            </a:r>
            <a:r>
              <a:rPr lang="en-ID" sz="2900" dirty="0"/>
              <a:t> </a:t>
            </a:r>
            <a:r>
              <a:rPr lang="en-ID" sz="2900" dirty="0" err="1"/>
              <a:t>manfaat</a:t>
            </a:r>
            <a:r>
              <a:rPr lang="en-ID" sz="2900" dirty="0"/>
              <a:t>: </a:t>
            </a:r>
          </a:p>
          <a:p>
            <a:pPr lvl="1"/>
            <a:r>
              <a:rPr lang="en-ID" sz="2900" dirty="0"/>
              <a:t>1. </a:t>
            </a:r>
            <a:r>
              <a:rPr lang="en-ID" sz="2900" dirty="0" err="1"/>
              <a:t>Efisiensi</a:t>
            </a:r>
            <a:r>
              <a:rPr lang="en-ID" sz="2900" dirty="0"/>
              <a:t>, </a:t>
            </a:r>
            <a:r>
              <a:rPr lang="en-ID" sz="2900" dirty="0" err="1"/>
              <a:t>transparansi</a:t>
            </a:r>
            <a:r>
              <a:rPr lang="en-ID" sz="2900" dirty="0"/>
              <a:t>, </a:t>
            </a:r>
            <a:r>
              <a:rPr lang="en-ID" sz="2900" dirty="0" err="1"/>
              <a:t>akuntabilitas</a:t>
            </a:r>
            <a:r>
              <a:rPr lang="en-ID" sz="2900" dirty="0"/>
              <a:t> </a:t>
            </a:r>
          </a:p>
          <a:p>
            <a:pPr lvl="1"/>
            <a:r>
              <a:rPr lang="en-ID" sz="2900" dirty="0"/>
              <a:t>2. Akses data </a:t>
            </a:r>
            <a:r>
              <a:rPr lang="en-ID" sz="2900" dirty="0" err="1"/>
              <a:t>cepat</a:t>
            </a:r>
            <a:r>
              <a:rPr lang="en-ID" sz="2900" dirty="0"/>
              <a:t> &amp; </a:t>
            </a:r>
            <a:r>
              <a:rPr lang="en-ID" sz="2900" dirty="0" err="1"/>
              <a:t>terdokumentasi</a:t>
            </a:r>
            <a:r>
              <a:rPr lang="en-ID" sz="2900" dirty="0"/>
              <a:t> </a:t>
            </a:r>
          </a:p>
          <a:p>
            <a:pPr lvl="1"/>
            <a:r>
              <a:rPr lang="en-ID" sz="2900" dirty="0"/>
              <a:t>3. </a:t>
            </a:r>
            <a:r>
              <a:rPr lang="en-ID" sz="2900" dirty="0" err="1"/>
              <a:t>Peningkatan</a:t>
            </a:r>
            <a:r>
              <a:rPr lang="en-ID" sz="2900" dirty="0"/>
              <a:t> </a:t>
            </a:r>
            <a:r>
              <a:rPr lang="en-ID" sz="2900" dirty="0" err="1"/>
              <a:t>kompetensi</a:t>
            </a:r>
            <a:r>
              <a:rPr lang="en-ID" sz="2900" dirty="0"/>
              <a:t> </a:t>
            </a:r>
            <a:r>
              <a:rPr lang="en-ID" sz="2900" dirty="0" err="1"/>
              <a:t>pegawai</a:t>
            </a:r>
            <a:r>
              <a:rPr lang="en-ID" sz="2900" dirty="0"/>
              <a:t> </a:t>
            </a:r>
          </a:p>
          <a:p>
            <a:br>
              <a:rPr lang="en-ID" sz="3000" dirty="0"/>
            </a:br>
            <a:endParaRPr lang="en-ID" sz="3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A7BDDD-940C-472B-B397-C5230A1031D6}"/>
              </a:ext>
            </a:extLst>
          </p:cNvPr>
          <p:cNvSpPr/>
          <p:nvPr/>
        </p:nvSpPr>
        <p:spPr>
          <a:xfrm>
            <a:off x="9886423" y="1714500"/>
            <a:ext cx="3841351" cy="824394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800" dirty="0" err="1"/>
              <a:t>Sudah</a:t>
            </a:r>
            <a:r>
              <a:rPr lang="en-ID" sz="2800" dirty="0"/>
              <a:t> </a:t>
            </a:r>
            <a:r>
              <a:rPr lang="en-ID" sz="2800" dirty="0" err="1"/>
              <a:t>ada</a:t>
            </a:r>
            <a:r>
              <a:rPr lang="en-ID" sz="2800" dirty="0"/>
              <a:t> </a:t>
            </a:r>
            <a:r>
              <a:rPr lang="en-ID" sz="2800" dirty="0" err="1"/>
              <a:t>aplikasi</a:t>
            </a:r>
            <a:r>
              <a:rPr lang="en-ID" sz="2800" dirty="0"/>
              <a:t> </a:t>
            </a:r>
            <a:r>
              <a:rPr lang="en-ID" sz="2800" b="1" dirty="0" err="1"/>
              <a:t>Srikandi</a:t>
            </a:r>
            <a:r>
              <a:rPr lang="en-ID" sz="2800" dirty="0"/>
              <a:t>, </a:t>
            </a:r>
            <a:r>
              <a:rPr lang="en-ID" sz="2800" dirty="0" err="1"/>
              <a:t>tapi</a:t>
            </a:r>
            <a:r>
              <a:rPr lang="en-ID" sz="2800" dirty="0"/>
              <a:t> </a:t>
            </a:r>
            <a:r>
              <a:rPr lang="en-ID" sz="2800" dirty="0" err="1"/>
              <a:t>belum</a:t>
            </a:r>
            <a:r>
              <a:rPr lang="en-ID" sz="2800" dirty="0"/>
              <a:t> optimal. </a:t>
            </a:r>
          </a:p>
          <a:p>
            <a:r>
              <a:rPr lang="en-ID" sz="2800" b="1" dirty="0" err="1"/>
              <a:t>Permasalahan</a:t>
            </a:r>
            <a:r>
              <a:rPr lang="en-ID" sz="2800" b="1" dirty="0"/>
              <a:t> Utama</a:t>
            </a:r>
          </a:p>
          <a:p>
            <a:r>
              <a:rPr lang="en-ID" sz="2800" dirty="0"/>
              <a:t>- </a:t>
            </a:r>
            <a:r>
              <a:rPr lang="en-ID" sz="2800" dirty="0" err="1"/>
              <a:t>Pengelolaan</a:t>
            </a:r>
            <a:r>
              <a:rPr lang="en-ID" sz="2800" dirty="0"/>
              <a:t> </a:t>
            </a:r>
            <a:r>
              <a:rPr lang="en-ID" sz="2800" dirty="0" err="1"/>
              <a:t>arsip</a:t>
            </a:r>
            <a:r>
              <a:rPr lang="en-ID" sz="2800" dirty="0"/>
              <a:t> </a:t>
            </a:r>
            <a:r>
              <a:rPr lang="en-ID" sz="2800" dirty="0" err="1"/>
              <a:t>belum</a:t>
            </a:r>
            <a:r>
              <a:rPr lang="en-ID" sz="2800" dirty="0"/>
              <a:t> optimal </a:t>
            </a:r>
          </a:p>
          <a:p>
            <a:r>
              <a:rPr lang="en-ID" sz="2800" dirty="0"/>
              <a:t>- SDM </a:t>
            </a:r>
            <a:r>
              <a:rPr lang="en-ID" sz="2800" dirty="0" err="1"/>
              <a:t>kearsipan</a:t>
            </a:r>
            <a:r>
              <a:rPr lang="en-ID" sz="2800" dirty="0"/>
              <a:t> </a:t>
            </a:r>
            <a:r>
              <a:rPr lang="en-ID" sz="2800" dirty="0" err="1"/>
              <a:t>terbatas</a:t>
            </a:r>
            <a:r>
              <a:rPr lang="en-ID" sz="2800" dirty="0"/>
              <a:t> </a:t>
            </a:r>
          </a:p>
          <a:p>
            <a:r>
              <a:rPr lang="en-ID" sz="2800" dirty="0"/>
              <a:t>- Data </a:t>
            </a:r>
            <a:r>
              <a:rPr lang="en-ID" sz="2800" dirty="0" err="1"/>
              <a:t>kepegawaian</a:t>
            </a:r>
            <a:r>
              <a:rPr lang="en-ID" sz="2800" dirty="0"/>
              <a:t> </a:t>
            </a:r>
            <a:r>
              <a:rPr lang="en-ID" sz="2800" dirty="0" err="1"/>
              <a:t>belum</a:t>
            </a:r>
            <a:r>
              <a:rPr lang="en-ID" sz="2800" dirty="0"/>
              <a:t> </a:t>
            </a:r>
            <a:r>
              <a:rPr lang="en-ID" sz="2800" dirty="0" err="1"/>
              <a:t>terintegrasi</a:t>
            </a:r>
            <a:r>
              <a:rPr lang="en-ID" sz="2800" dirty="0"/>
              <a:t> </a:t>
            </a:r>
          </a:p>
          <a:p>
            <a:r>
              <a:rPr lang="en-ID" sz="2800" dirty="0"/>
              <a:t>- </a:t>
            </a:r>
            <a:r>
              <a:rPr lang="en-ID" sz="2800" dirty="0" err="1"/>
              <a:t>Layanan</a:t>
            </a:r>
            <a:r>
              <a:rPr lang="en-ID" sz="2800" dirty="0"/>
              <a:t> </a:t>
            </a:r>
            <a:r>
              <a:rPr lang="en-ID" sz="2800" dirty="0" err="1"/>
              <a:t>eksternal</a:t>
            </a:r>
            <a:r>
              <a:rPr lang="en-ID" sz="2800" dirty="0"/>
              <a:t> (</a:t>
            </a:r>
            <a:r>
              <a:rPr lang="en-ID" sz="2800" dirty="0" err="1"/>
              <a:t>magang</a:t>
            </a:r>
            <a:r>
              <a:rPr lang="en-ID" sz="2800" dirty="0"/>
              <a:t>, </a:t>
            </a:r>
            <a:r>
              <a:rPr lang="en-ID" sz="2800" dirty="0" err="1"/>
              <a:t>penelitian</a:t>
            </a:r>
            <a:r>
              <a:rPr lang="en-ID" sz="2800" dirty="0"/>
              <a:t>, </a:t>
            </a:r>
            <a:r>
              <a:rPr lang="en-ID" sz="2800" dirty="0" err="1"/>
              <a:t>kunjungan</a:t>
            </a:r>
            <a:r>
              <a:rPr lang="en-ID" sz="2800" dirty="0"/>
              <a:t>) </a:t>
            </a:r>
            <a:r>
              <a:rPr lang="en-ID" sz="2800" dirty="0" err="1"/>
              <a:t>masih</a:t>
            </a:r>
            <a:r>
              <a:rPr lang="en-ID" sz="2800" dirty="0"/>
              <a:t> manual </a:t>
            </a:r>
          </a:p>
          <a:p>
            <a:r>
              <a:rPr lang="en-ID" sz="2800" dirty="0"/>
              <a:t>- Layanan </a:t>
            </a:r>
            <a:r>
              <a:rPr lang="en-ID" sz="2800" dirty="0" err="1"/>
              <a:t>kepegawaian</a:t>
            </a:r>
            <a:r>
              <a:rPr lang="en-ID" sz="2800" dirty="0"/>
              <a:t> internal </a:t>
            </a:r>
            <a:r>
              <a:rPr lang="en-ID" sz="2800" dirty="0" err="1"/>
              <a:t>belum</a:t>
            </a:r>
            <a:r>
              <a:rPr lang="en-ID" sz="2800" dirty="0"/>
              <a:t> digital </a:t>
            </a:r>
          </a:p>
          <a:p>
            <a:endParaRPr lang="en-ID" sz="2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9C1698-F2D2-455A-52AB-259ED606EE8F}"/>
              </a:ext>
            </a:extLst>
          </p:cNvPr>
          <p:cNvSpPr/>
          <p:nvPr/>
        </p:nvSpPr>
        <p:spPr>
          <a:xfrm>
            <a:off x="14437489" y="2913996"/>
            <a:ext cx="3456477" cy="718250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700" b="1" dirty="0"/>
              <a:t>Dampak Jika Tidak Ditangani</a:t>
            </a:r>
          </a:p>
          <a:p>
            <a:r>
              <a:rPr lang="en-ID" sz="2700" dirty="0"/>
              <a:t>- </a:t>
            </a:r>
            <a:r>
              <a:rPr lang="en-ID" sz="2700" dirty="0" err="1"/>
              <a:t>Pelayanan</a:t>
            </a:r>
            <a:r>
              <a:rPr lang="en-ID" sz="2700" dirty="0"/>
              <a:t> </a:t>
            </a:r>
            <a:r>
              <a:rPr lang="en-ID" sz="2700" dirty="0" err="1"/>
              <a:t>lambat</a:t>
            </a:r>
            <a:r>
              <a:rPr lang="en-ID" sz="2700" dirty="0"/>
              <a:t> &amp; </a:t>
            </a:r>
            <a:r>
              <a:rPr lang="en-ID" sz="2700" dirty="0" err="1"/>
              <a:t>tidak</a:t>
            </a:r>
            <a:r>
              <a:rPr lang="en-ID" sz="2700" dirty="0"/>
              <a:t> </a:t>
            </a:r>
            <a:r>
              <a:rPr lang="en-ID" sz="2700" dirty="0" err="1"/>
              <a:t>efisien</a:t>
            </a:r>
            <a:r>
              <a:rPr lang="en-ID" sz="2700" dirty="0"/>
              <a:t> </a:t>
            </a:r>
          </a:p>
          <a:p>
            <a:r>
              <a:rPr lang="en-ID" sz="2700" dirty="0"/>
              <a:t>- Risiko </a:t>
            </a:r>
            <a:r>
              <a:rPr lang="en-ID" sz="2700" dirty="0" err="1"/>
              <a:t>kehilangan</a:t>
            </a:r>
            <a:r>
              <a:rPr lang="en-ID" sz="2700" dirty="0"/>
              <a:t> &amp; </a:t>
            </a:r>
            <a:r>
              <a:rPr lang="en-ID" sz="2700" dirty="0" err="1"/>
              <a:t>ketidakakuratan</a:t>
            </a:r>
            <a:r>
              <a:rPr lang="en-ID" sz="2700" dirty="0"/>
              <a:t> data </a:t>
            </a:r>
          </a:p>
          <a:p>
            <a:r>
              <a:rPr lang="en-ID" sz="2700" dirty="0"/>
              <a:t>- </a:t>
            </a:r>
            <a:r>
              <a:rPr lang="en-ID" sz="2700" dirty="0" err="1"/>
              <a:t>Rendahnya</a:t>
            </a:r>
            <a:r>
              <a:rPr lang="en-ID" sz="2700" dirty="0"/>
              <a:t> </a:t>
            </a:r>
            <a:r>
              <a:rPr lang="en-ID" sz="2700" dirty="0" err="1"/>
              <a:t>transparansi</a:t>
            </a:r>
            <a:r>
              <a:rPr lang="en-ID" sz="2700" dirty="0"/>
              <a:t> &amp; </a:t>
            </a:r>
            <a:r>
              <a:rPr lang="en-ID" sz="2700" dirty="0" err="1"/>
              <a:t>akuntabilitas</a:t>
            </a:r>
            <a:r>
              <a:rPr lang="en-ID" sz="2700" dirty="0"/>
              <a:t> </a:t>
            </a:r>
          </a:p>
          <a:p>
            <a:r>
              <a:rPr lang="en-ID" sz="2700" dirty="0"/>
              <a:t>- </a:t>
            </a:r>
            <a:r>
              <a:rPr lang="en-ID" sz="2700" dirty="0" err="1"/>
              <a:t>Pemborosan</a:t>
            </a:r>
            <a:r>
              <a:rPr lang="en-ID" sz="2700" dirty="0"/>
              <a:t> </a:t>
            </a:r>
            <a:r>
              <a:rPr lang="en-ID" sz="2700" dirty="0" err="1"/>
              <a:t>biaya</a:t>
            </a:r>
            <a:r>
              <a:rPr lang="en-ID" sz="2700" dirty="0"/>
              <a:t> &amp; </a:t>
            </a:r>
            <a:r>
              <a:rPr lang="en-ID" sz="2700" dirty="0" err="1"/>
              <a:t>waktu</a:t>
            </a:r>
            <a:r>
              <a:rPr lang="en-ID" sz="2700" dirty="0"/>
              <a:t> </a:t>
            </a:r>
          </a:p>
          <a:p>
            <a:r>
              <a:rPr lang="en-ID" sz="2700" dirty="0"/>
              <a:t>- </a:t>
            </a:r>
            <a:r>
              <a:rPr lang="en-ID" sz="2700" dirty="0" err="1"/>
              <a:t>Menurunnya</a:t>
            </a:r>
            <a:r>
              <a:rPr lang="en-ID" sz="2700" dirty="0"/>
              <a:t> </a:t>
            </a:r>
            <a:r>
              <a:rPr lang="en-ID" sz="2700" dirty="0" err="1"/>
              <a:t>inovasi</a:t>
            </a:r>
            <a:r>
              <a:rPr lang="en-ID" sz="2700" dirty="0"/>
              <a:t> dan </a:t>
            </a:r>
            <a:r>
              <a:rPr lang="en-ID" sz="2700" dirty="0" err="1"/>
              <a:t>motivasi</a:t>
            </a:r>
            <a:r>
              <a:rPr lang="en-ID" sz="2700" dirty="0"/>
              <a:t> </a:t>
            </a:r>
            <a:r>
              <a:rPr lang="en-ID" sz="2700" dirty="0" err="1"/>
              <a:t>pegawai</a:t>
            </a:r>
            <a:r>
              <a:rPr lang="en-ID" sz="2700" dirty="0"/>
              <a:t>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953ED7F-FAA0-1FBC-FC8A-8009EBA4FF7B}"/>
              </a:ext>
            </a:extLst>
          </p:cNvPr>
          <p:cNvSpPr/>
          <p:nvPr/>
        </p:nvSpPr>
        <p:spPr>
          <a:xfrm>
            <a:off x="4259920" y="4687980"/>
            <a:ext cx="483066" cy="478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4CC6908-47F2-5477-B932-3E7C4E7F13B3}"/>
              </a:ext>
            </a:extLst>
          </p:cNvPr>
          <p:cNvSpPr/>
          <p:nvPr/>
        </p:nvSpPr>
        <p:spPr>
          <a:xfrm>
            <a:off x="9144000" y="5582940"/>
            <a:ext cx="483066" cy="478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76C371E-2D96-23BC-4561-FFE04EBDB65A}"/>
              </a:ext>
            </a:extLst>
          </p:cNvPr>
          <p:cNvSpPr/>
          <p:nvPr/>
        </p:nvSpPr>
        <p:spPr>
          <a:xfrm>
            <a:off x="13841098" y="6531528"/>
            <a:ext cx="483066" cy="4783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03846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E91D2-9599-CECB-9B01-74000BC1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A863C6-8FE1-1663-E6CD-FF65DE854463}"/>
              </a:ext>
            </a:extLst>
          </p:cNvPr>
          <p:cNvSpPr txBox="1"/>
          <p:nvPr/>
        </p:nvSpPr>
        <p:spPr>
          <a:xfrm>
            <a:off x="4876800" y="101487"/>
            <a:ext cx="914400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885" marR="2832100" indent="254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id-ID" sz="2500" b="1" kern="0" spc="-10" dirty="0">
                <a:effectLst/>
                <a:latin typeface="Arial Black" panose="020B0A04020102020204" pitchFamily="34" charset="0"/>
                <a:ea typeface="Arial" panose="020B0604020202020204" pitchFamily="34" charset="0"/>
              </a:rPr>
              <a:t>PENDAHULUAN</a:t>
            </a:r>
            <a:endParaRPr lang="en-ID" sz="2500" b="1" kern="0" dirty="0">
              <a:effectLst/>
              <a:latin typeface="Arial Black" panose="020B0A04020102020204" pitchFamily="34" charset="0"/>
              <a:ea typeface="Arial" panose="020B0604020202020204" pitchFamily="34" charset="0"/>
            </a:endParaRPr>
          </a:p>
          <a:p>
            <a:pPr>
              <a:spcBef>
                <a:spcPts val="1185"/>
              </a:spcBef>
              <a:buNone/>
            </a:pPr>
            <a:r>
              <a:rPr lang="id-ID" sz="1800" b="1" dirty="0">
                <a:effectLst/>
                <a:latin typeface="Arial Black" panose="020B0A04020102020204" pitchFamily="34" charset="0"/>
                <a:ea typeface="Arial MT"/>
                <a:cs typeface="Arial MT"/>
              </a:rPr>
              <a:t> </a:t>
            </a:r>
            <a:endParaRPr lang="en-ID" sz="1800" dirty="0">
              <a:effectLst/>
              <a:latin typeface="Arial Black" panose="020B0A04020102020204" pitchFamily="34" charset="0"/>
              <a:ea typeface="Arial M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95116-7315-89BD-31A3-28175513ABD1}"/>
              </a:ext>
            </a:extLst>
          </p:cNvPr>
          <p:cNvSpPr txBox="1"/>
          <p:nvPr/>
        </p:nvSpPr>
        <p:spPr>
          <a:xfrm>
            <a:off x="394034" y="689810"/>
            <a:ext cx="17499932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D" dirty="0"/>
          </a:p>
          <a:p>
            <a:br>
              <a:rPr lang="en-ID" dirty="0"/>
            </a:br>
            <a:endParaRPr lang="en-ID" dirty="0"/>
          </a:p>
          <a:p>
            <a:endParaRPr lang="en-ID" sz="25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BFD686-2A8D-AB53-92BA-0C25D4B0A542}"/>
              </a:ext>
            </a:extLst>
          </p:cNvPr>
          <p:cNvSpPr/>
          <p:nvPr/>
        </p:nvSpPr>
        <p:spPr>
          <a:xfrm>
            <a:off x="388246" y="757740"/>
            <a:ext cx="5250553" cy="2785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200" b="1" dirty="0">
                <a:solidFill>
                  <a:schemeClr val="tx1"/>
                </a:solidFill>
              </a:rPr>
              <a:t>Solusi Utama</a:t>
            </a:r>
          </a:p>
          <a:p>
            <a:r>
              <a:rPr lang="en-ID" sz="2200" dirty="0" err="1">
                <a:solidFill>
                  <a:schemeClr val="tx1"/>
                </a:solidFill>
              </a:rPr>
              <a:t>Digitalisasi</a:t>
            </a:r>
            <a:r>
              <a:rPr lang="en-ID" sz="2200" dirty="0">
                <a:solidFill>
                  <a:schemeClr val="tx1"/>
                </a:solidFill>
              </a:rPr>
              <a:t> </a:t>
            </a:r>
            <a:r>
              <a:rPr lang="en-ID" sz="2200" dirty="0" err="1">
                <a:solidFill>
                  <a:schemeClr val="tx1"/>
                </a:solidFill>
              </a:rPr>
              <a:t>layanan</a:t>
            </a:r>
            <a:r>
              <a:rPr lang="en-ID" sz="2200" dirty="0">
                <a:solidFill>
                  <a:schemeClr val="tx1"/>
                </a:solidFill>
              </a:rPr>
              <a:t> </a:t>
            </a:r>
            <a:r>
              <a:rPr lang="en-ID" sz="2200" dirty="0" err="1">
                <a:solidFill>
                  <a:schemeClr val="tx1"/>
                </a:solidFill>
              </a:rPr>
              <a:t>melalui</a:t>
            </a:r>
            <a:r>
              <a:rPr lang="en-ID" sz="2200" dirty="0">
                <a:solidFill>
                  <a:schemeClr val="tx1"/>
                </a:solidFill>
              </a:rPr>
              <a:t> </a:t>
            </a:r>
            <a:r>
              <a:rPr lang="en-ID" sz="2200" dirty="0" err="1">
                <a:solidFill>
                  <a:schemeClr val="tx1"/>
                </a:solidFill>
              </a:rPr>
              <a:t>fitur</a:t>
            </a:r>
            <a:r>
              <a:rPr lang="en-ID" sz="2200" dirty="0">
                <a:solidFill>
                  <a:schemeClr val="tx1"/>
                </a:solidFill>
              </a:rPr>
              <a:t> pada website DPRD ,</a:t>
            </a:r>
          </a:p>
          <a:p>
            <a:r>
              <a:rPr lang="en-ID" sz="2200" dirty="0" err="1">
                <a:solidFill>
                  <a:schemeClr val="tx1"/>
                </a:solidFill>
              </a:rPr>
              <a:t>Pendekatan</a:t>
            </a:r>
            <a:r>
              <a:rPr lang="en-ID" sz="2200" dirty="0">
                <a:solidFill>
                  <a:schemeClr val="tx1"/>
                </a:solidFill>
              </a:rPr>
              <a:t>: Model </a:t>
            </a:r>
            <a:r>
              <a:rPr lang="en-ID" sz="2200" b="1" dirty="0">
                <a:solidFill>
                  <a:schemeClr val="tx1"/>
                </a:solidFill>
              </a:rPr>
              <a:t>Leavitt’s</a:t>
            </a:r>
            <a:r>
              <a:rPr lang="en-ID" sz="2200" dirty="0">
                <a:solidFill>
                  <a:schemeClr val="tx1"/>
                </a:solidFill>
              </a:rPr>
              <a:t> &amp; </a:t>
            </a:r>
            <a:r>
              <a:rPr lang="en-ID" sz="2200" dirty="0" err="1">
                <a:solidFill>
                  <a:schemeClr val="tx1"/>
                </a:solidFill>
              </a:rPr>
              <a:t>metode</a:t>
            </a:r>
            <a:r>
              <a:rPr lang="en-ID" sz="2200" dirty="0">
                <a:solidFill>
                  <a:schemeClr val="tx1"/>
                </a:solidFill>
              </a:rPr>
              <a:t> </a:t>
            </a:r>
            <a:r>
              <a:rPr lang="en-ID" sz="2200" b="1" dirty="0">
                <a:solidFill>
                  <a:schemeClr val="tx1"/>
                </a:solidFill>
              </a:rPr>
              <a:t>ASTRID</a:t>
            </a:r>
            <a:r>
              <a:rPr lang="en-ID" sz="2200" dirty="0">
                <a:solidFill>
                  <a:schemeClr val="tx1"/>
                </a:solidFill>
              </a:rPr>
              <a:t> </a:t>
            </a:r>
          </a:p>
          <a:p>
            <a:r>
              <a:rPr lang="en-ID" sz="2200" dirty="0">
                <a:solidFill>
                  <a:schemeClr val="tx1"/>
                </a:solidFill>
              </a:rPr>
              <a:t>Tujuan: </a:t>
            </a:r>
            <a:r>
              <a:rPr lang="en-ID" sz="2200" dirty="0" err="1">
                <a:solidFill>
                  <a:schemeClr val="tx1"/>
                </a:solidFill>
              </a:rPr>
              <a:t>mendukung</a:t>
            </a:r>
            <a:r>
              <a:rPr lang="en-ID" sz="2200" dirty="0">
                <a:solidFill>
                  <a:schemeClr val="tx1"/>
                </a:solidFill>
              </a:rPr>
              <a:t> </a:t>
            </a:r>
            <a:r>
              <a:rPr lang="en-ID" sz="2200" b="1" dirty="0">
                <a:solidFill>
                  <a:schemeClr val="tx1"/>
                </a:solidFill>
              </a:rPr>
              <a:t>smart governance</a:t>
            </a:r>
            <a:r>
              <a:rPr lang="en-ID" sz="2200" dirty="0">
                <a:solidFill>
                  <a:schemeClr val="tx1"/>
                </a:solidFill>
              </a:rPr>
              <a:t> dan </a:t>
            </a:r>
            <a:r>
              <a:rPr lang="en-ID" sz="2200" dirty="0" err="1">
                <a:solidFill>
                  <a:schemeClr val="tx1"/>
                </a:solidFill>
              </a:rPr>
              <a:t>pelayanan</a:t>
            </a:r>
            <a:r>
              <a:rPr lang="en-ID" sz="2200" dirty="0">
                <a:solidFill>
                  <a:schemeClr val="tx1"/>
                </a:solidFill>
              </a:rPr>
              <a:t> prima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1BBA2D-E9D4-C056-106F-FA985C3A19B3}"/>
              </a:ext>
            </a:extLst>
          </p:cNvPr>
          <p:cNvSpPr/>
          <p:nvPr/>
        </p:nvSpPr>
        <p:spPr>
          <a:xfrm>
            <a:off x="6360074" y="1116705"/>
            <a:ext cx="5567851" cy="561017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D" sz="2500" b="1" dirty="0">
              <a:solidFill>
                <a:schemeClr val="tx1"/>
              </a:solidFill>
            </a:endParaRPr>
          </a:p>
          <a:p>
            <a:endParaRPr lang="en-ID" sz="2500" b="1" dirty="0">
              <a:solidFill>
                <a:schemeClr val="tx1"/>
              </a:solidFill>
            </a:endParaRPr>
          </a:p>
          <a:p>
            <a:r>
              <a:rPr lang="en-ID" sz="2500" b="1" dirty="0">
                <a:solidFill>
                  <a:schemeClr val="tx1"/>
                </a:solidFill>
              </a:rPr>
              <a:t>B. Tujuan</a:t>
            </a:r>
          </a:p>
          <a:p>
            <a:r>
              <a:rPr lang="en-ID" sz="2500" b="1" dirty="0">
                <a:solidFill>
                  <a:schemeClr val="tx1"/>
                </a:solidFill>
              </a:rPr>
              <a:t>Jangka Pendek</a:t>
            </a:r>
          </a:p>
          <a:p>
            <a:r>
              <a:rPr lang="en-ID" sz="2500" dirty="0" err="1">
                <a:solidFill>
                  <a:schemeClr val="tx1"/>
                </a:solidFill>
              </a:rPr>
              <a:t>Tambah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fitur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b="1" dirty="0">
                <a:solidFill>
                  <a:schemeClr val="tx1"/>
                </a:solidFill>
              </a:rPr>
              <a:t>D-</a:t>
            </a:r>
            <a:r>
              <a:rPr lang="en-ID" sz="2500" b="1" dirty="0" err="1">
                <a:solidFill>
                  <a:schemeClr val="tx1"/>
                </a:solidFill>
              </a:rPr>
              <a:t>Lantunan</a:t>
            </a:r>
            <a:r>
              <a:rPr lang="en-ID" sz="2500" dirty="0">
                <a:solidFill>
                  <a:schemeClr val="tx1"/>
                </a:solidFill>
              </a:rPr>
              <a:t> (</a:t>
            </a:r>
            <a:r>
              <a:rPr lang="en-ID" sz="2500" dirty="0" err="1">
                <a:solidFill>
                  <a:schemeClr val="tx1"/>
                </a:solidFill>
              </a:rPr>
              <a:t>layanan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izin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magang</a:t>
            </a:r>
            <a:r>
              <a:rPr lang="en-ID" sz="2500" dirty="0">
                <a:solidFill>
                  <a:schemeClr val="tx1"/>
                </a:solidFill>
              </a:rPr>
              <a:t>, </a:t>
            </a:r>
            <a:r>
              <a:rPr lang="en-ID" sz="2500" dirty="0" err="1">
                <a:solidFill>
                  <a:schemeClr val="tx1"/>
                </a:solidFill>
              </a:rPr>
              <a:t>penelitian</a:t>
            </a:r>
            <a:r>
              <a:rPr lang="en-ID" sz="2500" dirty="0">
                <a:solidFill>
                  <a:schemeClr val="tx1"/>
                </a:solidFill>
              </a:rPr>
              <a:t>, </a:t>
            </a:r>
            <a:r>
              <a:rPr lang="en-ID" sz="2500" dirty="0" err="1">
                <a:solidFill>
                  <a:schemeClr val="tx1"/>
                </a:solidFill>
              </a:rPr>
              <a:t>kunjungan</a:t>
            </a:r>
            <a:r>
              <a:rPr lang="en-ID" sz="2500" dirty="0">
                <a:solidFill>
                  <a:schemeClr val="tx1"/>
                </a:solidFill>
              </a:rPr>
              <a:t>) </a:t>
            </a:r>
          </a:p>
          <a:p>
            <a:r>
              <a:rPr lang="en-ID" sz="2500" dirty="0" err="1">
                <a:solidFill>
                  <a:schemeClr val="tx1"/>
                </a:solidFill>
              </a:rPr>
              <a:t>Sosialisasi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penggunaan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sistem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r>
              <a:rPr lang="en-ID" sz="2500" b="1" dirty="0" err="1">
                <a:solidFill>
                  <a:schemeClr val="tx1"/>
                </a:solidFill>
              </a:rPr>
              <a:t>Jangka</a:t>
            </a:r>
            <a:r>
              <a:rPr lang="en-ID" sz="2500" b="1" dirty="0">
                <a:solidFill>
                  <a:schemeClr val="tx1"/>
                </a:solidFill>
              </a:rPr>
              <a:t> </a:t>
            </a:r>
            <a:r>
              <a:rPr lang="en-ID" sz="2500" b="1" dirty="0" err="1">
                <a:solidFill>
                  <a:schemeClr val="tx1"/>
                </a:solidFill>
              </a:rPr>
              <a:t>Menengah</a:t>
            </a:r>
            <a:endParaRPr lang="en-ID" sz="2500" b="1" dirty="0">
              <a:solidFill>
                <a:schemeClr val="tx1"/>
              </a:solidFill>
            </a:endParaRPr>
          </a:p>
          <a:p>
            <a:r>
              <a:rPr lang="en-ID" sz="2500" dirty="0">
                <a:solidFill>
                  <a:schemeClr val="tx1"/>
                </a:solidFill>
              </a:rPr>
              <a:t>Integrasi </a:t>
            </a:r>
            <a:r>
              <a:rPr lang="en-ID" sz="2500" dirty="0" err="1">
                <a:solidFill>
                  <a:schemeClr val="tx1"/>
                </a:solidFill>
              </a:rPr>
              <a:t>seluruh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layanan</a:t>
            </a:r>
            <a:r>
              <a:rPr lang="en-ID" sz="2500" dirty="0">
                <a:solidFill>
                  <a:schemeClr val="tx1"/>
                </a:solidFill>
              </a:rPr>
              <a:t> tata </a:t>
            </a:r>
            <a:r>
              <a:rPr lang="en-ID" sz="2500" dirty="0" err="1">
                <a:solidFill>
                  <a:schemeClr val="tx1"/>
                </a:solidFill>
              </a:rPr>
              <a:t>usaha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r>
              <a:rPr lang="en-ID" sz="2500" dirty="0" err="1">
                <a:solidFill>
                  <a:schemeClr val="tx1"/>
                </a:solidFill>
              </a:rPr>
              <a:t>Peningkatan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kecepatan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layanan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hingga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b="1" dirty="0">
                <a:solidFill>
                  <a:schemeClr val="tx1"/>
                </a:solidFill>
              </a:rPr>
              <a:t>50%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r>
              <a:rPr lang="en-ID" sz="2500" b="1" dirty="0" err="1">
                <a:solidFill>
                  <a:schemeClr val="tx1"/>
                </a:solidFill>
              </a:rPr>
              <a:t>Jangka</a:t>
            </a:r>
            <a:r>
              <a:rPr lang="en-ID" sz="2500" b="1" dirty="0">
                <a:solidFill>
                  <a:schemeClr val="tx1"/>
                </a:solidFill>
              </a:rPr>
              <a:t> Panjang</a:t>
            </a:r>
          </a:p>
          <a:p>
            <a:r>
              <a:rPr lang="en-ID" sz="2500" dirty="0" err="1">
                <a:solidFill>
                  <a:schemeClr val="tx1"/>
                </a:solidFill>
              </a:rPr>
              <a:t>Mewujudkan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b="1" dirty="0">
                <a:solidFill>
                  <a:schemeClr val="tx1"/>
                </a:solidFill>
              </a:rPr>
              <a:t>digital workplace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r>
              <a:rPr lang="en-ID" sz="2500" dirty="0" err="1">
                <a:solidFill>
                  <a:schemeClr val="tx1"/>
                </a:solidFill>
              </a:rPr>
              <a:t>Menjadikan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sistem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sebagai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standar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layanan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berkelanjutan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br>
              <a:rPr lang="en-ID" sz="2500" dirty="0">
                <a:solidFill>
                  <a:schemeClr val="tx1"/>
                </a:solidFill>
              </a:rPr>
            </a:br>
            <a:endParaRPr lang="en-ID" sz="25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7B1B3B-AA83-10C7-1ABF-F165166ECE0A}"/>
              </a:ext>
            </a:extLst>
          </p:cNvPr>
          <p:cNvSpPr/>
          <p:nvPr/>
        </p:nvSpPr>
        <p:spPr>
          <a:xfrm>
            <a:off x="12649200" y="1997860"/>
            <a:ext cx="5092366" cy="734769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200" b="1" dirty="0"/>
              <a:t>C. Manfaat</a:t>
            </a:r>
          </a:p>
          <a:p>
            <a:r>
              <a:rPr lang="en-ID" sz="2200" b="1" dirty="0"/>
              <a:t>Bagi </a:t>
            </a:r>
            <a:r>
              <a:rPr lang="en-ID" sz="2200" b="1" dirty="0" err="1"/>
              <a:t>Penulis</a:t>
            </a:r>
            <a:endParaRPr lang="en-ID" sz="2200" b="1" dirty="0"/>
          </a:p>
          <a:p>
            <a:r>
              <a:rPr lang="en-ID" sz="2200" dirty="0" err="1"/>
              <a:t>Peningkatan</a:t>
            </a:r>
            <a:r>
              <a:rPr lang="en-ID" sz="2200" dirty="0"/>
              <a:t> </a:t>
            </a:r>
            <a:r>
              <a:rPr lang="en-ID" sz="2200" dirty="0" err="1"/>
              <a:t>kompetensi</a:t>
            </a:r>
            <a:r>
              <a:rPr lang="en-ID" sz="2200" dirty="0"/>
              <a:t> &amp; </a:t>
            </a:r>
            <a:r>
              <a:rPr lang="en-ID" sz="2200" dirty="0" err="1"/>
              <a:t>kepemimpinan</a:t>
            </a:r>
            <a:r>
              <a:rPr lang="en-ID" sz="2200" dirty="0"/>
              <a:t> </a:t>
            </a:r>
          </a:p>
          <a:p>
            <a:r>
              <a:rPr lang="en-ID" sz="2200" dirty="0" err="1"/>
              <a:t>Aktualisasi</a:t>
            </a:r>
            <a:r>
              <a:rPr lang="en-ID" sz="2200" dirty="0"/>
              <a:t> </a:t>
            </a:r>
            <a:r>
              <a:rPr lang="en-ID" sz="2200" dirty="0" err="1"/>
              <a:t>diri</a:t>
            </a:r>
            <a:r>
              <a:rPr lang="en-ID" sz="2200" dirty="0"/>
              <a:t> &amp; </a:t>
            </a:r>
            <a:r>
              <a:rPr lang="en-ID" sz="2200" dirty="0" err="1"/>
              <a:t>integritas</a:t>
            </a:r>
            <a:r>
              <a:rPr lang="en-ID" sz="2200" dirty="0"/>
              <a:t> ASN </a:t>
            </a:r>
          </a:p>
          <a:p>
            <a:r>
              <a:rPr lang="en-ID" sz="2200" b="1" dirty="0"/>
              <a:t>Bagi </a:t>
            </a:r>
            <a:r>
              <a:rPr lang="en-ID" sz="2200" b="1" dirty="0" err="1"/>
              <a:t>Instansi</a:t>
            </a:r>
            <a:endParaRPr lang="en-ID" sz="2200" b="1" dirty="0"/>
          </a:p>
          <a:p>
            <a:r>
              <a:rPr lang="en-ID" sz="2200" dirty="0"/>
              <a:t>Efisiensi </a:t>
            </a:r>
            <a:r>
              <a:rPr lang="en-ID" sz="2200" dirty="0" err="1"/>
              <a:t>birokrasi</a:t>
            </a:r>
            <a:r>
              <a:rPr lang="en-ID" sz="2200" dirty="0"/>
              <a:t> (paperless) </a:t>
            </a:r>
          </a:p>
          <a:p>
            <a:r>
              <a:rPr lang="en-ID" sz="2200" dirty="0"/>
              <a:t>Data </a:t>
            </a:r>
            <a:r>
              <a:rPr lang="en-ID" sz="2200" dirty="0" err="1"/>
              <a:t>terpusat</a:t>
            </a:r>
            <a:r>
              <a:rPr lang="en-ID" sz="2200" dirty="0"/>
              <a:t> &amp; </a:t>
            </a:r>
            <a:r>
              <a:rPr lang="en-ID" sz="2200" dirty="0" err="1"/>
              <a:t>mudah</a:t>
            </a:r>
            <a:r>
              <a:rPr lang="en-ID" sz="2200" dirty="0"/>
              <a:t> </a:t>
            </a:r>
            <a:r>
              <a:rPr lang="en-ID" sz="2200" dirty="0" err="1"/>
              <a:t>diakses</a:t>
            </a:r>
            <a:r>
              <a:rPr lang="en-ID" sz="2200" dirty="0"/>
              <a:t> </a:t>
            </a:r>
          </a:p>
          <a:p>
            <a:r>
              <a:rPr lang="en-ID" sz="2200" b="1" dirty="0"/>
              <a:t>Bagi </a:t>
            </a:r>
            <a:r>
              <a:rPr lang="en-ID" sz="2200" b="1" dirty="0" err="1"/>
              <a:t>Pemerintah</a:t>
            </a:r>
            <a:endParaRPr lang="en-ID" sz="2200" b="1" dirty="0"/>
          </a:p>
          <a:p>
            <a:r>
              <a:rPr lang="en-ID" sz="2200" dirty="0"/>
              <a:t>Tata </a:t>
            </a:r>
            <a:r>
              <a:rPr lang="en-ID" sz="2200" dirty="0" err="1"/>
              <a:t>kelola</a:t>
            </a:r>
            <a:r>
              <a:rPr lang="en-ID" sz="2200" dirty="0"/>
              <a:t> </a:t>
            </a:r>
            <a:r>
              <a:rPr lang="en-ID" sz="2200" dirty="0" err="1"/>
              <a:t>lebih</a:t>
            </a:r>
            <a:r>
              <a:rPr lang="en-ID" sz="2200" dirty="0"/>
              <a:t> </a:t>
            </a:r>
            <a:r>
              <a:rPr lang="en-ID" sz="2200" dirty="0" err="1"/>
              <a:t>profesional</a:t>
            </a:r>
            <a:r>
              <a:rPr lang="en-ID" sz="2200" dirty="0"/>
              <a:t> &amp; </a:t>
            </a:r>
            <a:r>
              <a:rPr lang="en-ID" sz="2200" dirty="0" err="1"/>
              <a:t>akuntabel</a:t>
            </a:r>
            <a:r>
              <a:rPr lang="en-ID" sz="2200" dirty="0"/>
              <a:t> </a:t>
            </a:r>
          </a:p>
          <a:p>
            <a:r>
              <a:rPr lang="en-ID" sz="2200" b="1" dirty="0"/>
              <a:t>Bagi Masyarakat</a:t>
            </a:r>
          </a:p>
          <a:p>
            <a:r>
              <a:rPr lang="en-ID" sz="2200" dirty="0"/>
              <a:t>Layanan </a:t>
            </a:r>
            <a:r>
              <a:rPr lang="en-ID" sz="2200" dirty="0" err="1"/>
              <a:t>lebih</a:t>
            </a:r>
            <a:r>
              <a:rPr lang="en-ID" sz="2200" dirty="0"/>
              <a:t> </a:t>
            </a:r>
            <a:r>
              <a:rPr lang="en-ID" sz="2200" dirty="0" err="1"/>
              <a:t>cepat</a:t>
            </a:r>
            <a:r>
              <a:rPr lang="en-ID" sz="2200" dirty="0"/>
              <a:t> &amp; </a:t>
            </a:r>
            <a:r>
              <a:rPr lang="en-ID" sz="2200" dirty="0" err="1"/>
              <a:t>transparan</a:t>
            </a:r>
            <a:r>
              <a:rPr lang="en-ID" sz="2200" dirty="0"/>
              <a:t> </a:t>
            </a:r>
          </a:p>
          <a:p>
            <a:r>
              <a:rPr lang="en-ID" sz="2200" dirty="0"/>
              <a:t>Akses online &amp; tracking real-time </a:t>
            </a:r>
          </a:p>
          <a:p>
            <a:r>
              <a:rPr lang="en-ID" sz="2200" b="1" dirty="0"/>
              <a:t>Bagi </a:t>
            </a:r>
            <a:r>
              <a:rPr lang="en-ID" sz="2200" b="1" dirty="0" err="1"/>
              <a:t>Akademisi</a:t>
            </a:r>
            <a:r>
              <a:rPr lang="en-ID" sz="2200" b="1" dirty="0"/>
              <a:t> &amp; Media</a:t>
            </a:r>
          </a:p>
          <a:p>
            <a:r>
              <a:rPr lang="en-ID" sz="2200" dirty="0"/>
              <a:t>Data </a:t>
            </a:r>
            <a:r>
              <a:rPr lang="en-ID" sz="2200" dirty="0" err="1"/>
              <a:t>mudah</a:t>
            </a:r>
            <a:r>
              <a:rPr lang="en-ID" sz="2200" dirty="0"/>
              <a:t> </a:t>
            </a:r>
            <a:r>
              <a:rPr lang="en-ID" sz="2200" dirty="0" err="1"/>
              <a:t>diakses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penelitian</a:t>
            </a:r>
            <a:r>
              <a:rPr lang="en-ID" sz="2200" dirty="0"/>
              <a:t> &amp; </a:t>
            </a:r>
            <a:r>
              <a:rPr lang="en-ID" sz="2200" dirty="0" err="1"/>
              <a:t>publikasi</a:t>
            </a:r>
            <a:r>
              <a:rPr lang="en-ID" sz="2200" dirty="0"/>
              <a:t> </a:t>
            </a:r>
          </a:p>
          <a:p>
            <a:r>
              <a:rPr lang="en-ID" sz="2200" b="1" dirty="0"/>
              <a:t>Manfaat Ekonomi</a:t>
            </a:r>
          </a:p>
          <a:p>
            <a:r>
              <a:rPr lang="en-ID" sz="2200" dirty="0"/>
              <a:t>Efisiensi </a:t>
            </a:r>
            <a:r>
              <a:rPr lang="en-ID" sz="2200" dirty="0" err="1"/>
              <a:t>anggaran</a:t>
            </a:r>
            <a:r>
              <a:rPr lang="en-ID" sz="2200" dirty="0"/>
              <a:t> ± </a:t>
            </a:r>
            <a:r>
              <a:rPr lang="en-ID" sz="2200" b="1" dirty="0"/>
              <a:t>Rp 9.250.000/</a:t>
            </a:r>
            <a:r>
              <a:rPr lang="en-ID" sz="2200" b="1" dirty="0" err="1"/>
              <a:t>tahun</a:t>
            </a:r>
            <a:r>
              <a:rPr lang="en-ID" sz="2200" dirty="0"/>
              <a:t> </a:t>
            </a:r>
          </a:p>
          <a:p>
            <a:endParaRPr lang="en-ID" sz="2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816523-C3E2-ECAB-97C3-CD2A7C431FB9}"/>
              </a:ext>
            </a:extLst>
          </p:cNvPr>
          <p:cNvSpPr/>
          <p:nvPr/>
        </p:nvSpPr>
        <p:spPr>
          <a:xfrm>
            <a:off x="373007" y="4665795"/>
            <a:ext cx="4904277" cy="533150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2500" b="1" dirty="0">
                <a:solidFill>
                  <a:schemeClr val="tx1"/>
                </a:solidFill>
              </a:rPr>
              <a:t>D. Ruang </a:t>
            </a:r>
            <a:r>
              <a:rPr lang="en-ID" sz="2500" b="1" dirty="0" err="1">
                <a:solidFill>
                  <a:schemeClr val="tx1"/>
                </a:solidFill>
              </a:rPr>
              <a:t>Lingkup</a:t>
            </a:r>
            <a:endParaRPr lang="en-ID" sz="2500" b="1" dirty="0">
              <a:solidFill>
                <a:schemeClr val="tx1"/>
              </a:solidFill>
            </a:endParaRPr>
          </a:p>
          <a:p>
            <a:r>
              <a:rPr lang="en-ID" sz="2500" b="1" dirty="0" err="1">
                <a:solidFill>
                  <a:schemeClr val="tx1"/>
                </a:solidFill>
              </a:rPr>
              <a:t>Fokus</a:t>
            </a:r>
            <a:endParaRPr lang="en-ID" sz="2500" b="1" dirty="0">
              <a:solidFill>
                <a:schemeClr val="tx1"/>
              </a:solidFill>
            </a:endParaRPr>
          </a:p>
          <a:p>
            <a:r>
              <a:rPr lang="en-ID" sz="2500" dirty="0" err="1">
                <a:solidFill>
                  <a:schemeClr val="tx1"/>
                </a:solidFill>
              </a:rPr>
              <a:t>Digitalisasi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layanan</a:t>
            </a:r>
            <a:r>
              <a:rPr lang="en-ID" sz="2500" dirty="0">
                <a:solidFill>
                  <a:schemeClr val="tx1"/>
                </a:solidFill>
              </a:rPr>
              <a:t>: </a:t>
            </a:r>
          </a:p>
          <a:p>
            <a:pPr lvl="1"/>
            <a:r>
              <a:rPr lang="en-ID" sz="2500" dirty="0" err="1">
                <a:solidFill>
                  <a:schemeClr val="tx1"/>
                </a:solidFill>
              </a:rPr>
              <a:t>Izin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magang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ID" sz="2500" dirty="0" err="1">
                <a:solidFill>
                  <a:schemeClr val="tx1"/>
                </a:solidFill>
              </a:rPr>
              <a:t>Izin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penelitian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ID" sz="2500" dirty="0">
                <a:solidFill>
                  <a:schemeClr val="tx1"/>
                </a:solidFill>
              </a:rPr>
              <a:t>Izin </a:t>
            </a:r>
            <a:r>
              <a:rPr lang="en-ID" sz="2500" dirty="0" err="1">
                <a:solidFill>
                  <a:schemeClr val="tx1"/>
                </a:solidFill>
              </a:rPr>
              <a:t>kunjungan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r>
              <a:rPr lang="en-ID" sz="2500" b="1" dirty="0" err="1">
                <a:solidFill>
                  <a:schemeClr val="tx1"/>
                </a:solidFill>
              </a:rPr>
              <a:t>Lokus</a:t>
            </a:r>
            <a:endParaRPr lang="en-ID" sz="2500" b="1" dirty="0">
              <a:solidFill>
                <a:schemeClr val="tx1"/>
              </a:solidFill>
            </a:endParaRPr>
          </a:p>
          <a:p>
            <a:r>
              <a:rPr lang="en-ID" sz="2500" dirty="0" err="1">
                <a:solidFill>
                  <a:schemeClr val="tx1"/>
                </a:solidFill>
              </a:rPr>
              <a:t>Sekretariat</a:t>
            </a:r>
            <a:r>
              <a:rPr lang="en-ID" sz="2500" dirty="0">
                <a:solidFill>
                  <a:schemeClr val="tx1"/>
                </a:solidFill>
              </a:rPr>
              <a:t> DPRD </a:t>
            </a:r>
            <a:r>
              <a:rPr lang="en-ID" sz="2500" dirty="0" err="1">
                <a:solidFill>
                  <a:schemeClr val="tx1"/>
                </a:solidFill>
              </a:rPr>
              <a:t>Kabupaten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Purbalingga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  <a:p>
            <a:r>
              <a:rPr lang="en-ID" sz="2500" dirty="0">
                <a:solidFill>
                  <a:schemeClr val="tx1"/>
                </a:solidFill>
              </a:rPr>
              <a:t>Target: </a:t>
            </a:r>
            <a:r>
              <a:rPr lang="en-ID" sz="2500" dirty="0" err="1">
                <a:solidFill>
                  <a:schemeClr val="tx1"/>
                </a:solidFill>
              </a:rPr>
              <a:t>seluruh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dirty="0" err="1">
                <a:solidFill>
                  <a:schemeClr val="tx1"/>
                </a:solidFill>
              </a:rPr>
              <a:t>layanan</a:t>
            </a:r>
            <a:r>
              <a:rPr lang="en-ID" sz="2500" dirty="0">
                <a:solidFill>
                  <a:schemeClr val="tx1"/>
                </a:solidFill>
              </a:rPr>
              <a:t> tata </a:t>
            </a:r>
            <a:r>
              <a:rPr lang="en-ID" sz="2500" dirty="0" err="1">
                <a:solidFill>
                  <a:schemeClr val="tx1"/>
                </a:solidFill>
              </a:rPr>
              <a:t>usaha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  <a:r>
              <a:rPr lang="en-ID" sz="2500" b="1" dirty="0" err="1">
                <a:solidFill>
                  <a:schemeClr val="tx1"/>
                </a:solidFill>
              </a:rPr>
              <a:t>berbasis</a:t>
            </a:r>
            <a:r>
              <a:rPr lang="en-ID" sz="2500" b="1" dirty="0">
                <a:solidFill>
                  <a:schemeClr val="tx1"/>
                </a:solidFill>
              </a:rPr>
              <a:t> digital</a:t>
            </a:r>
            <a:r>
              <a:rPr lang="en-ID" sz="25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6340B52-2F5C-AED2-FF75-BDA8E8213763}"/>
              </a:ext>
            </a:extLst>
          </p:cNvPr>
          <p:cNvSpPr/>
          <p:nvPr/>
        </p:nvSpPr>
        <p:spPr>
          <a:xfrm>
            <a:off x="5791200" y="2628900"/>
            <a:ext cx="416474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CFB9ACC-A391-42EC-ECC1-27EC2D9AA273}"/>
              </a:ext>
            </a:extLst>
          </p:cNvPr>
          <p:cNvSpPr/>
          <p:nvPr/>
        </p:nvSpPr>
        <p:spPr>
          <a:xfrm>
            <a:off x="12080325" y="4535167"/>
            <a:ext cx="416474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EB4D164B-F563-32F7-6F5E-413B211DAC4B}"/>
              </a:ext>
            </a:extLst>
          </p:cNvPr>
          <p:cNvSpPr/>
          <p:nvPr/>
        </p:nvSpPr>
        <p:spPr>
          <a:xfrm rot="10800000">
            <a:off x="5638799" y="8267700"/>
            <a:ext cx="6803040" cy="60960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299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8200" y="786931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810000" y="151162"/>
            <a:ext cx="10984230" cy="51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9"/>
              </a:lnSpc>
            </a:pPr>
            <a:r>
              <a:rPr lang="id-ID" sz="3000" dirty="0">
                <a:solidFill>
                  <a:schemeClr val="bg1"/>
                </a:solidFill>
                <a:latin typeface="Arial Black" panose="020B0A04020102020204" pitchFamily="34" charset="0"/>
              </a:rPr>
              <a:t>ANALISIS MASALAH</a:t>
            </a:r>
            <a:endParaRPr lang="en-US" sz="3000" b="1" dirty="0">
              <a:solidFill>
                <a:schemeClr val="bg1"/>
              </a:solidFill>
              <a:latin typeface="Arial Black" panose="020B0A04020102020204" pitchFamily="34" charset="0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B3DED-05F2-4CA2-9947-ED35A8BC7130}"/>
              </a:ext>
            </a:extLst>
          </p:cNvPr>
          <p:cNvSpPr txBox="1"/>
          <p:nvPr/>
        </p:nvSpPr>
        <p:spPr>
          <a:xfrm>
            <a:off x="533400" y="1028700"/>
            <a:ext cx="13368776" cy="923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lphaUcPeriod"/>
            </a:pP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Identifikasi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Isu</a:t>
            </a:r>
          </a:p>
          <a:p>
            <a:pPr marL="457200" indent="-457200">
              <a:buAutoNum type="alphaUcPeriod"/>
            </a:pPr>
            <a:endParaRPr lang="en-ID" sz="27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Pengelolaan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arsip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belum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optimal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Arsip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dianggap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beban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bukan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aset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Dampak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: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penumpukan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pencampuran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dokumen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tidak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sesuai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standar</a:t>
            </a:r>
            <a:endParaRPr lang="en-ID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lvl="1"/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SDM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kearsipan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terbatas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Belum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ada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arsiparis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profesional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Pengelolaan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belum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sesuai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klasifikasi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&amp; JRA </a:t>
            </a:r>
          </a:p>
          <a:p>
            <a:pPr marL="742950" lvl="1" indent="-285750">
              <a:buFont typeface="+mj-lt"/>
              <a:buAutoNum type="arabicPeriod"/>
            </a:pPr>
            <a:endParaRPr lang="en-ID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Data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kepegawaian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belum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terintegrasi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Data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tersebar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&amp;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tidak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update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Dampak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: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pencarian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lama,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risiko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duplikasi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/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ketidaksesuaian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endParaRPr lang="en-ID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Layanan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eksternal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belum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digital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Proses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masih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manual &amp;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berjenjang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Dampak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: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lambat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tidak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transparan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sulit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tracking </a:t>
            </a:r>
          </a:p>
          <a:p>
            <a:pPr marL="742950" lvl="1" indent="-285750">
              <a:buFont typeface="+mj-lt"/>
              <a:buAutoNum type="arabicPeriod"/>
            </a:pPr>
            <a:endParaRPr lang="en-ID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Layanan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kepegawaian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internal </a:t>
            </a:r>
            <a:r>
              <a:rPr lang="en-ID" sz="27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belum</a:t>
            </a:r>
            <a:r>
              <a:rPr lang="en-ID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 optimal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Database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belum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terpusat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Dampak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: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pelayanan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lambat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&amp;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keputusan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kurang</a:t>
            </a:r>
            <a:r>
              <a:rPr lang="en-ID" sz="27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D" sz="2700" dirty="0" err="1">
                <a:solidFill>
                  <a:schemeClr val="bg1"/>
                </a:solidFill>
                <a:latin typeface="Arial Black" panose="020B0A04020102020204" pitchFamily="34" charset="0"/>
              </a:rPr>
              <a:t>akurat</a:t>
            </a:r>
            <a:endParaRPr lang="en-ID" sz="27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C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55ABBE-B863-1911-6907-7E5ACF64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7759542-905D-75ED-D0B8-754B6CCC2463}"/>
              </a:ext>
            </a:extLst>
          </p:cNvPr>
          <p:cNvSpPr/>
          <p:nvPr/>
        </p:nvSpPr>
        <p:spPr>
          <a:xfrm>
            <a:off x="829782" y="1409700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8039B70-0ADF-8F6B-463D-A7F09B8AF5EC}"/>
              </a:ext>
            </a:extLst>
          </p:cNvPr>
          <p:cNvSpPr txBox="1"/>
          <p:nvPr/>
        </p:nvSpPr>
        <p:spPr>
          <a:xfrm>
            <a:off x="1028700" y="272046"/>
            <a:ext cx="1098423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9"/>
              </a:lnSpc>
            </a:pP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Analisis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dan </a:t>
            </a: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Alternatif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Penyelesaian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Masalah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481AC9-1994-3175-A110-BF4A751BD4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75" t="23962" r="8424" b="20837"/>
          <a:stretch>
            <a:fillRect/>
          </a:stretch>
        </p:blipFill>
        <p:spPr>
          <a:xfrm>
            <a:off x="2285999" y="2171700"/>
            <a:ext cx="13318165" cy="727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13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C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F8A1B-2F8E-3DFA-DB2C-4499DAE2C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4C0475A-5C6B-3D0C-1AA9-ACD4FD23A958}"/>
              </a:ext>
            </a:extLst>
          </p:cNvPr>
          <p:cNvSpPr/>
          <p:nvPr/>
        </p:nvSpPr>
        <p:spPr>
          <a:xfrm>
            <a:off x="1028700" y="2217954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BFC83AB-D1C5-F6F5-5C8F-9B28390B3F2B}"/>
              </a:ext>
            </a:extLst>
          </p:cNvPr>
          <p:cNvSpPr/>
          <p:nvPr/>
        </p:nvSpPr>
        <p:spPr>
          <a:xfrm>
            <a:off x="1101627" y="2202888"/>
            <a:ext cx="10303845" cy="7448563"/>
          </a:xfrm>
          <a:custGeom>
            <a:avLst/>
            <a:gdLst/>
            <a:ahLst/>
            <a:cxnLst/>
            <a:rect l="l" t="t" r="r" b="b"/>
            <a:pathLst>
              <a:path w="10303845" h="7448563">
                <a:moveTo>
                  <a:pt x="0" y="0"/>
                </a:moveTo>
                <a:lnTo>
                  <a:pt x="10303845" y="0"/>
                </a:lnTo>
                <a:lnTo>
                  <a:pt x="10303845" y="7448563"/>
                </a:lnTo>
                <a:lnTo>
                  <a:pt x="0" y="744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957" t="-45167" r="-27080" b="-26828"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2BAA759-6F5E-30F6-3452-C6CD0C039254}"/>
              </a:ext>
            </a:extLst>
          </p:cNvPr>
          <p:cNvSpPr txBox="1"/>
          <p:nvPr/>
        </p:nvSpPr>
        <p:spPr>
          <a:xfrm>
            <a:off x="11621073" y="2208429"/>
            <a:ext cx="6319703" cy="732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Berdasarkan analisis ASTRID diperoleh hasil bahwa 1 (satu) isu strategis yang mempunyai nilai tertinggi adalah yaitu “Tata Kelola Layanan Tata Usaha dan Kepegawaian di Sekretariat DPRD Kab. Purbalingga masih manual”. Isu ini cukup actual,spesifik dan relevandibanding isu-isu lainnya dan mempunyai nilai transformatif dan inovatif agar semua pihak yang terlibat memiliki pemahaman yang sama dalam menyusun identifikasi kebutuhan layanan yang tepat, spesifikasi teknis yang akurat,  Purbalingga.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917831E-9813-87CD-3A05-1584593A23AB}"/>
              </a:ext>
            </a:extLst>
          </p:cNvPr>
          <p:cNvSpPr txBox="1"/>
          <p:nvPr/>
        </p:nvSpPr>
        <p:spPr>
          <a:xfrm>
            <a:off x="1028700" y="272046"/>
            <a:ext cx="10984230" cy="164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9"/>
              </a:lnSpc>
            </a:pPr>
            <a:r>
              <a:rPr lang="en-US" sz="3899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Berikut hasil analisis permasalahan pada bagian Tata Usaha di Kantor Sekretariat DPRD Kab. Purbalingga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2DB89E5-7F56-C1E0-142B-870514E73741}"/>
              </a:ext>
            </a:extLst>
          </p:cNvPr>
          <p:cNvSpPr txBox="1"/>
          <p:nvPr/>
        </p:nvSpPr>
        <p:spPr>
          <a:xfrm>
            <a:off x="11806881" y="153617"/>
            <a:ext cx="6481119" cy="1905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68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METODE ASTRID</a:t>
            </a:r>
          </a:p>
        </p:txBody>
      </p:sp>
    </p:spTree>
    <p:extLst>
      <p:ext uri="{BB962C8B-B14F-4D97-AF65-F5344CB8AC3E}">
        <p14:creationId xmlns:p14="http://schemas.microsoft.com/office/powerpoint/2010/main" val="2781509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C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21E8-5D63-8BE4-FE11-40B291A1C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DEE50C4-35CF-A0FF-4E0F-0D39B791273C}"/>
              </a:ext>
            </a:extLst>
          </p:cNvPr>
          <p:cNvSpPr/>
          <p:nvPr/>
        </p:nvSpPr>
        <p:spPr>
          <a:xfrm>
            <a:off x="890827" y="754899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ED1F8-2620-7E93-60E2-FA25224404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8" b="1596"/>
          <a:stretch>
            <a:fillRect/>
          </a:stretch>
        </p:blipFill>
        <p:spPr>
          <a:xfrm>
            <a:off x="3200400" y="1008517"/>
            <a:ext cx="11506200" cy="900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81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C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A36CE2-A2B1-CA16-EEDF-6973CF210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062E6FD-9DDE-2380-AE1C-B7F7B0B26A46}"/>
              </a:ext>
            </a:extLst>
          </p:cNvPr>
          <p:cNvSpPr/>
          <p:nvPr/>
        </p:nvSpPr>
        <p:spPr>
          <a:xfrm>
            <a:off x="829782" y="1409700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BECA3F3-445E-DECC-1EE9-A9555ADC9FE5}"/>
              </a:ext>
            </a:extLst>
          </p:cNvPr>
          <p:cNvSpPr txBox="1"/>
          <p:nvPr/>
        </p:nvSpPr>
        <p:spPr>
          <a:xfrm>
            <a:off x="1028700" y="272046"/>
            <a:ext cx="1098423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89"/>
              </a:lnSpc>
            </a:pP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Analisis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dan </a:t>
            </a: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Alternatif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Penyelesaian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  <a:r>
              <a:rPr lang="en-US" sz="3899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Masalah</a:t>
            </a:r>
            <a:r>
              <a:rPr lang="en-US" sz="3899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693D2E-FA63-32C0-4244-68B891B6A3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75" t="23962" r="8424" b="20837"/>
          <a:stretch>
            <a:fillRect/>
          </a:stretch>
        </p:blipFill>
        <p:spPr>
          <a:xfrm>
            <a:off x="2285999" y="2171700"/>
            <a:ext cx="13318165" cy="727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61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B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683651"/>
            <a:ext cx="16230600" cy="0"/>
          </a:xfrm>
          <a:prstGeom prst="line">
            <a:avLst/>
          </a:prstGeom>
          <a:ln w="19050" cap="flat">
            <a:solidFill>
              <a:srgbClr val="092C5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8700" y="608538"/>
            <a:ext cx="11772034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id-ID" sz="4400" b="1" dirty="0"/>
              <a:t>Tahapan Kegiatan (Milestone) Aksi Perubahan</a:t>
            </a:r>
            <a:endParaRPr lang="en-ID" sz="44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356A933-F6D1-9416-4526-05BFC89D6D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88" t="27087" r="16623" b="12505"/>
          <a:stretch>
            <a:fillRect/>
          </a:stretch>
        </p:blipFill>
        <p:spPr>
          <a:xfrm>
            <a:off x="1026928" y="2096694"/>
            <a:ext cx="9793472" cy="81145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9" name="Group 3">
            <a:extLst>
              <a:ext uri="{FF2B5EF4-FFF2-40B4-BE49-F238E27FC236}">
                <a16:creationId xmlns:a16="http://schemas.microsoft.com/office/drawing/2014/main" id="{0DB415FE-C274-CAB5-37C5-0834C50CC213}"/>
              </a:ext>
            </a:extLst>
          </p:cNvPr>
          <p:cNvGrpSpPr/>
          <p:nvPr/>
        </p:nvGrpSpPr>
        <p:grpSpPr>
          <a:xfrm>
            <a:off x="11277600" y="3619500"/>
            <a:ext cx="6281709" cy="4498511"/>
            <a:chOff x="0" y="0"/>
            <a:chExt cx="1111530" cy="740499"/>
          </a:xfrm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51580BCC-DDF3-5C7C-361B-0C03DBBD259B}"/>
                </a:ext>
              </a:extLst>
            </p:cNvPr>
            <p:cNvSpPr/>
            <p:nvPr/>
          </p:nvSpPr>
          <p:spPr>
            <a:xfrm>
              <a:off x="0" y="0"/>
              <a:ext cx="1111530" cy="740499"/>
            </a:xfrm>
            <a:custGeom>
              <a:avLst/>
              <a:gdLst/>
              <a:ahLst/>
              <a:cxnLst/>
              <a:rect l="l" t="t" r="r" b="b"/>
              <a:pathLst>
                <a:path w="1111530" h="740499">
                  <a:moveTo>
                    <a:pt x="0" y="0"/>
                  </a:moveTo>
                  <a:lnTo>
                    <a:pt x="1111530" y="0"/>
                  </a:lnTo>
                  <a:lnTo>
                    <a:pt x="1111530" y="740499"/>
                  </a:lnTo>
                  <a:lnTo>
                    <a:pt x="0" y="740499"/>
                  </a:lnTo>
                  <a:close/>
                </a:path>
              </a:pathLst>
            </a:custGeom>
            <a:blipFill>
              <a:blip r:embed="rId3"/>
              <a:stretch>
                <a:fillRect t="-74" b="-74"/>
              </a:stretch>
            </a:blipFill>
          </p:spPr>
          <p:txBody>
            <a:bodyPr/>
            <a:lstStyle/>
            <a:p>
              <a:endParaRPr lang="en-ID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B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36639" y="6176914"/>
            <a:ext cx="12414721" cy="202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6"/>
              </a:lnSpc>
            </a:pPr>
            <a:r>
              <a:rPr lang="en-US" sz="14187" b="1" dirty="0" err="1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Terima</a:t>
            </a:r>
            <a:r>
              <a:rPr lang="en-US" sz="14187" b="1" dirty="0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Kasih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1683651"/>
            <a:ext cx="16230600" cy="0"/>
          </a:xfrm>
          <a:prstGeom prst="line">
            <a:avLst/>
          </a:prstGeom>
          <a:ln w="19050" cap="flat">
            <a:solidFill>
              <a:srgbClr val="092C5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68163" y="2405803"/>
            <a:ext cx="1076727" cy="125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04"/>
              </a:lnSpc>
            </a:pPr>
            <a:r>
              <a:rPr lang="en-US" sz="8337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75439" y="6701088"/>
            <a:ext cx="2731000" cy="318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75"/>
              </a:lnSpc>
            </a:pPr>
            <a:r>
              <a:rPr lang="en-US" sz="21146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+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79977" y="9022300"/>
            <a:ext cx="2529400" cy="25294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92C5B"/>
              </a:solidFill>
              <a:prstDash val="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31677" y="2520659"/>
            <a:ext cx="1027623" cy="102762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92C5B"/>
              </a:solidFill>
              <a:prstDash val="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047750"/>
            <a:ext cx="1722783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1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Kelas : 5B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32231" y="1047750"/>
            <a:ext cx="2427069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0"/>
              </a:lnSpc>
            </a:pPr>
            <a:r>
              <a:rPr lang="en-US" sz="2400" b="1">
                <a:solidFill>
                  <a:srgbClr val="092C5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Presentasi</a:t>
            </a:r>
          </a:p>
        </p:txBody>
      </p:sp>
      <p:grpSp>
        <p:nvGrpSpPr>
          <p:cNvPr id="17" name="Group 5">
            <a:extLst>
              <a:ext uri="{FF2B5EF4-FFF2-40B4-BE49-F238E27FC236}">
                <a16:creationId xmlns:a16="http://schemas.microsoft.com/office/drawing/2014/main" id="{8555F2DB-F531-04E6-BA25-8458FB4E8E48}"/>
              </a:ext>
            </a:extLst>
          </p:cNvPr>
          <p:cNvGrpSpPr/>
          <p:nvPr/>
        </p:nvGrpSpPr>
        <p:grpSpPr>
          <a:xfrm>
            <a:off x="2766723" y="2718568"/>
            <a:ext cx="7901277" cy="2424932"/>
            <a:chOff x="0" y="0"/>
            <a:chExt cx="2586411" cy="1832733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472BFE77-7D45-9BA2-00FE-42D096DA08FD}"/>
                </a:ext>
              </a:extLst>
            </p:cNvPr>
            <p:cNvSpPr/>
            <p:nvPr/>
          </p:nvSpPr>
          <p:spPr>
            <a:xfrm>
              <a:off x="0" y="0"/>
              <a:ext cx="2586412" cy="1832733"/>
            </a:xfrm>
            <a:custGeom>
              <a:avLst/>
              <a:gdLst/>
              <a:ahLst/>
              <a:cxnLst/>
              <a:rect l="l" t="t" r="r" b="b"/>
              <a:pathLst>
                <a:path w="2586412" h="1832733">
                  <a:moveTo>
                    <a:pt x="23651" y="0"/>
                  </a:moveTo>
                  <a:lnTo>
                    <a:pt x="2562761" y="0"/>
                  </a:lnTo>
                  <a:cubicBezTo>
                    <a:pt x="2575823" y="0"/>
                    <a:pt x="2586412" y="10589"/>
                    <a:pt x="2586412" y="23651"/>
                  </a:cubicBezTo>
                  <a:lnTo>
                    <a:pt x="2586412" y="1809082"/>
                  </a:lnTo>
                  <a:cubicBezTo>
                    <a:pt x="2586412" y="1822144"/>
                    <a:pt x="2575823" y="1832733"/>
                    <a:pt x="2562761" y="1832733"/>
                  </a:cubicBezTo>
                  <a:lnTo>
                    <a:pt x="23651" y="1832733"/>
                  </a:lnTo>
                  <a:cubicBezTo>
                    <a:pt x="17378" y="1832733"/>
                    <a:pt x="11363" y="1830241"/>
                    <a:pt x="6927" y="1825806"/>
                  </a:cubicBezTo>
                  <a:cubicBezTo>
                    <a:pt x="2492" y="1821370"/>
                    <a:pt x="0" y="1815355"/>
                    <a:pt x="0" y="1809082"/>
                  </a:cubicBezTo>
                  <a:lnTo>
                    <a:pt x="0" y="23651"/>
                  </a:lnTo>
                  <a:cubicBezTo>
                    <a:pt x="0" y="17378"/>
                    <a:pt x="2492" y="11363"/>
                    <a:pt x="6927" y="6927"/>
                  </a:cubicBezTo>
                  <a:cubicBezTo>
                    <a:pt x="11363" y="2492"/>
                    <a:pt x="17378" y="0"/>
                    <a:pt x="23651" y="0"/>
                  </a:cubicBezTo>
                  <a:close/>
                </a:path>
              </a:pathLst>
            </a:cu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75CB51DE-EB85-37D5-B788-21790F71709D}"/>
                </a:ext>
              </a:extLst>
            </p:cNvPr>
            <p:cNvSpPr txBox="1"/>
            <p:nvPr/>
          </p:nvSpPr>
          <p:spPr>
            <a:xfrm>
              <a:off x="0" y="19050"/>
              <a:ext cx="2586411" cy="181368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9D86515-A3FB-9D8C-DB81-7D2FAACA50A2}"/>
              </a:ext>
            </a:extLst>
          </p:cNvPr>
          <p:cNvSpPr txBox="1"/>
          <p:nvPr/>
        </p:nvSpPr>
        <p:spPr>
          <a:xfrm>
            <a:off x="2800248" y="2785953"/>
            <a:ext cx="9848952" cy="2528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00" b="1" dirty="0" err="1">
                <a:solidFill>
                  <a:srgbClr val="092C5B"/>
                </a:solidFill>
                <a:latin typeface="Cardo Bold"/>
                <a:ea typeface="Cardo Bold"/>
                <a:cs typeface="Cardo Bold"/>
                <a:sym typeface="Cardo Bold"/>
              </a:rPr>
              <a:t>Dengan</a:t>
            </a:r>
            <a:r>
              <a:rPr lang="en-US" sz="3000" b="1" dirty="0">
                <a:solidFill>
                  <a:srgbClr val="092C5B"/>
                </a:solidFill>
                <a:latin typeface="Cardo Bold"/>
                <a:ea typeface="Cardo Bold"/>
                <a:cs typeface="Cardo Bold"/>
                <a:sym typeface="Cardo Bold"/>
              </a:rPr>
              <a:t> </a:t>
            </a:r>
            <a:r>
              <a:rPr lang="en-US" sz="3000" b="1" dirty="0" err="1">
                <a:solidFill>
                  <a:srgbClr val="092C5B"/>
                </a:solidFill>
                <a:latin typeface="Cardo Bold"/>
                <a:ea typeface="Cardo Bold"/>
                <a:cs typeface="Cardo Bold"/>
                <a:sym typeface="Cardo Bold"/>
              </a:rPr>
              <a:t>adanya</a:t>
            </a:r>
            <a:r>
              <a:rPr lang="en-US" sz="3000" b="1" dirty="0">
                <a:solidFill>
                  <a:srgbClr val="092C5B"/>
                </a:solidFill>
                <a:latin typeface="Cardo Bold"/>
                <a:ea typeface="Cardo Bold"/>
                <a:cs typeface="Cardo Bold"/>
                <a:sym typeface="Cardo Bold"/>
              </a:rPr>
              <a:t> </a:t>
            </a:r>
            <a:r>
              <a:rPr lang="en-US" sz="3000" b="1" dirty="0" err="1">
                <a:solidFill>
                  <a:srgbClr val="092C5B"/>
                </a:solidFill>
                <a:latin typeface="Cardo Bold"/>
                <a:ea typeface="Cardo Bold"/>
                <a:cs typeface="Cardo Bold"/>
                <a:sym typeface="Cardo Bold"/>
              </a:rPr>
              <a:t>D’Lantunan</a:t>
            </a:r>
            <a:endParaRPr lang="en-US" sz="3000" b="1" dirty="0">
              <a:solidFill>
                <a:srgbClr val="092C5B"/>
              </a:solidFill>
              <a:latin typeface="Cardo Bold"/>
              <a:ea typeface="Cardo Bold"/>
              <a:cs typeface="Cardo Bold"/>
              <a:sym typeface="Cardo Bold"/>
            </a:endParaRPr>
          </a:p>
          <a:p>
            <a:pPr>
              <a:lnSpc>
                <a:spcPts val="3840"/>
              </a:lnSpc>
            </a:pPr>
            <a:r>
              <a:rPr lang="en-US" sz="3000" dirty="0" err="1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Harapannya</a:t>
            </a:r>
            <a:r>
              <a:rPr lang="en-US" sz="3000" dirty="0">
                <a:solidFill>
                  <a:srgbClr val="092C5B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  <a:r>
              <a:rPr lang="en-ID" sz="3000" dirty="0" err="1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layanan</a:t>
            </a:r>
            <a:r>
              <a:rPr lang="en-ID" sz="3000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 </a:t>
            </a:r>
            <a:r>
              <a:rPr lang="en-ID" sz="3000" dirty="0" err="1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lebih</a:t>
            </a:r>
            <a:r>
              <a:rPr lang="en-ID" sz="3000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 </a:t>
            </a:r>
            <a:r>
              <a:rPr lang="en-ID" sz="3000" b="1" dirty="0" err="1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Mudah</a:t>
            </a:r>
            <a:r>
              <a:rPr lang="en-ID" sz="3000" b="1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,</a:t>
            </a:r>
          </a:p>
          <a:p>
            <a:pPr>
              <a:lnSpc>
                <a:spcPts val="3840"/>
              </a:lnSpc>
            </a:pPr>
            <a:r>
              <a:rPr lang="en-ID" sz="3000" b="1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                                                </a:t>
            </a:r>
            <a:r>
              <a:rPr lang="en-ID" sz="3000" b="1" dirty="0" err="1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Cepat</a:t>
            </a:r>
            <a:r>
              <a:rPr lang="en-ID" sz="3000" b="1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,  </a:t>
            </a:r>
          </a:p>
          <a:p>
            <a:pPr>
              <a:lnSpc>
                <a:spcPts val="3840"/>
              </a:lnSpc>
            </a:pPr>
            <a:r>
              <a:rPr lang="en-ID" sz="3000" b="1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                                                       dan </a:t>
            </a:r>
            <a:r>
              <a:rPr lang="en-ID" sz="3000" b="1" dirty="0" err="1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</a:rPr>
              <a:t>Tepat</a:t>
            </a:r>
            <a:r>
              <a:rPr lang="en-US" sz="3000" dirty="0">
                <a:solidFill>
                  <a:schemeClr val="accent1"/>
                </a:solidFill>
                <a:latin typeface="Cardo" panose="020B0604020202020204" charset="-79"/>
                <a:ea typeface="Cardo" panose="020B0604020202020204" charset="-79"/>
                <a:cs typeface="Cardo" panose="020B0604020202020204" charset="-79"/>
                <a:sym typeface="Cardo"/>
              </a:rPr>
              <a:t> </a:t>
            </a:r>
          </a:p>
          <a:p>
            <a:pPr algn="l">
              <a:lnSpc>
                <a:spcPts val="3840"/>
              </a:lnSpc>
            </a:pPr>
            <a:r>
              <a:rPr lang="en-US" sz="3000" b="1" dirty="0">
                <a:solidFill>
                  <a:srgbClr val="092C5B"/>
                </a:solidFill>
                <a:latin typeface="Cardo Bold"/>
                <a:ea typeface="Cardo Bold"/>
                <a:cs typeface="Cardo Bold"/>
                <a:sym typeface="Cardo Bold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678</Words>
  <Application>Microsoft Office PowerPoint</Application>
  <PresentationFormat>Custom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Cardo Bold</vt:lpstr>
      <vt:lpstr>Arial Black</vt:lpstr>
      <vt:lpstr>Playfair Display Bold</vt:lpstr>
      <vt:lpstr>Calibri</vt:lpstr>
      <vt:lpstr>Cardo</vt:lpstr>
      <vt:lpstr>Arial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Biru dan Abu Sederhana Minimalis Presentasi Tugas Kelompok</dc:title>
  <dc:creator>asus</dc:creator>
  <cp:lastModifiedBy>HP</cp:lastModifiedBy>
  <cp:revision>6</cp:revision>
  <dcterms:created xsi:type="dcterms:W3CDTF">2006-08-16T00:00:00Z</dcterms:created>
  <dcterms:modified xsi:type="dcterms:W3CDTF">2026-08-11T03:52:26Z</dcterms:modified>
  <dc:identifier>DAHIyPrxFRQ</dc:identifier>
</cp:coreProperties>
</file>